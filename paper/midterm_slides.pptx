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68"/>
                </a:solidFill>
                <a:ea typeface="Malgun Gothic"/>
                <a:latin typeface="Malgun Gothic"/>
              </a:rPr>
              <a:t>TabNet과 거대언어모델(LLM) 기반
XAI-RAG를 활용한 설명 가능한 신용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06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55555"/>
                </a:solidFill>
                <a:ea typeface="Malgun Gothic"/>
                <a:latin typeface="Malgun Gothic"/>
              </a:rPr>
              <a:t>석사 논문 중간 보고  |  Step 1 (8일 작업 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486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ea typeface="Malgun Gothic"/>
                <a:latin typeface="Malgun Gothic"/>
              </a:rPr>
              <a:t>전공: 데이터사이언스 · 인공지능
학번 A70067  |  오현택
지도교수: 박운상
보고일: 2026-05-10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1. 연구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왜 신용 평가에 "설명 가능한 자연어"가 필요한가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08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신용 평가 자동화의 "두 얼굴"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XGBoost·LightGBM·TabNet 같은 모델이 부도 예측 성능을 크게 끌어올림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내부 의사결정이 직관적이지 않은 "블랙박스" 특성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제도적·윤리적 요구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국내 금융소비자보호법 / 신용정보법 — 자동화된 신용평가 설명 의무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EU GDPR — "Right to Explanation" 보장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성별·연령 기반 잠재적 편향 → 차별 가능성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기존 XAI(SHAP, LIME)의 한계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변수 중요도 그래프, 기여도 수치 — 전문가 외엔 해석 어려움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"모델은 설명 가능해졌으나 사람에게는 여전히 설명되지 않는다"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LLM의 가능성과 위험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데이터-투-텍스트 변환에 강함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환각(Hallucination) 문제 — 신용평가는 정확성·법적 책임이 중요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2. 연구 목표와 차별점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연구가 푸는 문제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11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세 가지를 동시에 달성하는 통합 파이프라인을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84000"/>
            <a:ext cx="108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ea typeface="Malgun Gothic"/>
                <a:latin typeface="Malgun Gothic"/>
              </a:rPr>
              <a:t>•  예측 성능: TabNet으로 트리 SOTA에 준하는 분류 성능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투명한 근거: SHAP + TabNet 어텐션의 일관성 분석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자연어 설명: LLM이 SHAP 사실만 받아쓰는 XAI-RAG로 환각 차단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360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기존 연구와 본 연구의 차별점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4031999"/>
            <a:ext cx="252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0" y="4031999"/>
            <a:ext cx="396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기존 연구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40000" y="4031999"/>
            <a:ext cx="468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본 연구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4463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LLM 활용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0" y="4463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분류기 또는 단순 변환기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40000" y="4463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XAI-RAG로 환각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4895999"/>
            <a:ext cx="252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설명 평가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0" y="4895999"/>
            <a:ext cx="396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정성적 사례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40000" y="4895999"/>
            <a:ext cx="468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Faithfulness · Hallucination · G-Eval 정량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5327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어텐션 vs SHAP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000" y="5327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암묵적 가정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0000" y="5327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Spearman / Top-K 정량 비교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3. 프레임워크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정형 데이터 → 예측 → 해석 → 컨텍스트 → 자연어 설명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5847" y="1620000"/>
            <a:ext cx="2520000" cy="162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① 예측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TabNet / XGBoost
P(default) 산출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5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95847" y="1620000"/>
            <a:ext cx="2520000" cy="162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② 해석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SHAP local +
TabNet 어텐션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3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75847" y="1620000"/>
            <a:ext cx="2520000" cy="16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③ 컨텍스트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JSON 사실 단위
+ 민감변수 마스킹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1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55847" y="1620000"/>
            <a:ext cx="2520000" cy="1620000"/>
          </a:xfrm>
          <a:prstGeom prst="roundRect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④ 생성+평가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LLM 자연어 설명
+ Faithfulness/Halluc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39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핵심 — "LLM은 SHAP 사실만 자연어로 변환하는 역할에 한정"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4500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환각 원천 차단: 컨텍스트에 없는 변수·수치는 절대 생성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민감 변수 마스킹: 성별·연령 직접 노출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SHAP 부호 정확 반영: 양수는 부도↑, 음수는 부도↓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4. 데이터와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Home Credit Default Risk (Kaggle) — 메인 테이블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ea typeface="Malgun Gothic"/>
                <a:latin typeface="Malgun Gothic"/>
              </a:rPr>
              <a:t>•  307,511 행 × 122 컬럼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TARGET 분포 8.07% (불균형)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AUROC, AUPRC, KS 위주 평가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EXT_SOURCE_2 / 3 가 단연 강한 신호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|ρ| 0.16~0.18, 다른 변수는 0.06 미만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→ 비선형/상호작용이 핵심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결측 50%+ 컬럼 41개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*_MISSING_FLAG 변수 추가로 보존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DAYS_EMPLOYED 365243 sentinel (18%)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NaN + EMPLOYED_FLAG 처리</a:t>
            </a:r>
          </a:p>
          <a:p>
            <a:pPr algn="l"/>
            <a:r>
              <a:rPr sz="1300" b="1">
                <a:solidFill>
                  <a:srgbClr val="C44E52"/>
                </a:solidFill>
                <a:ea typeface="Malgun Gothic"/>
                <a:latin typeface="Malgun Gothic"/>
              </a:rPr>
              <a:t>•  공정성 신호 이미 데이터에 존재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남성 부도율 1.45배, 25세 미만 vs 65세+ 3.4배</a:t>
            </a:r>
          </a:p>
        </p:txBody>
      </p:sp>
      <p:pic>
        <p:nvPicPr>
          <p:cNvPr id="7" name="Picture 6" descr="03_protected_att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5580000" cy="414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72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성별·연령별 부도율 차이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5. 모델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5-fold Stratified CV — test set, mean ± std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0000" y="1152000"/>
            <a:ext cx="1152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AUROC</a:t>
            </a:r>
          </a:p>
        </p:txBody>
      </p:sp>
      <p:sp>
        <p:nvSpPr>
          <p:cNvPr id="8" name="Rectangle 7"/>
          <p:cNvSpPr/>
          <p:nvPr/>
        </p:nvSpPr>
        <p:spPr>
          <a:xfrm>
            <a:off x="313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AUPRC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2000" y="1152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특징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51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XGBoost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0.7587 ± 0.0008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3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0.2445 ± 0.0011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0.3846 ± 0.0015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2000" y="151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5/5 fold 1등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87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LightGBM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1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0.2402 ± 0.0018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0.3788 ± 0.0028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2000" y="187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가장 빠름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223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Logistic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1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3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0.2343 ± 0.0006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0.3804 ± 0.0010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2000" y="223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최고 안정성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259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TabNet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1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0.7518 ± 0.0017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3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0.2331 ± 0.0023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0.3749 ± 0.0056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72000" y="259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어텐션 해석성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3240000"/>
            <a:ext cx="1116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•  표준편차 0.001 안팎 — 단발 운이 아닌 안정적인 격차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XGBoost가 미세하게 1등이지만 TabNet과 차이는 0.007 AUROC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성능보다 어텐션 해석성이 본 연구의 핵심 가치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본 메시지: "TabNet은 비교 가능한 성능 + 추가 해석성"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6. SHAP과 어텐션은 같은 것을 말하는가?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RQ2 — 두 해석 방법의 일관성 정량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측정 방법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TabNet 어텐션 importance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SHAP global (KernelExplainer, 200 샘플)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상관 + Top-K 교집합/Jaccard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결과 — 부분 일관 + 부분 상보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(전체) = 0.117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(Top-50 합집합) = −0.195 (음수!)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Top-20 교집합 = 9 / 20 (Jaccard 0.29)</a:t>
            </a:r>
          </a:p>
          <a:p>
            <a:pPr algn="l"/>
            <a:r>
              <a:rPr sz="1200" b="1">
                <a:ea typeface="Malgun Gothic"/>
                <a:latin typeface="Malgun Gothic"/>
              </a:rPr>
              <a:t>•  교집합 9개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EXT_SOURCE_2/3, DAYS_EMPLOYED, ORGANIZATION_TYPE,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NAME_CONTRACT_TYPE_Revolving loans, CODE_GENDER_M 등</a:t>
            </a:r>
          </a:p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결론 — 두 방법 함께 활용해야 입체적 해석</a:t>
            </a:r>
          </a:p>
        </p:txBody>
      </p:sp>
      <p:pic>
        <p:nvPicPr>
          <p:cNvPr id="7" name="Picture 6" descr="16_attention_vs_sha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8995113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어텐션 vs SHAP 산점도 (좌: 전체, 우: Top-20)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7. 공정성 진단 +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DP / EO / EOdds / DI — 8개 케이스 모두 4/5 rule 위반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베이스라인 (4 모델 × {GENDER, AGE} = 8건)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전부 DI &lt; 0.8 (4/5 rule 위반)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DI ≈ 0.50, GENDER DI ≈ 0.62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알고리즘이 아닌 데이터 차원 편향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Ablation (CODE_GENDER, DAYS_BIRTH 제거 후 재학습)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GENDER ablation: DP −36~40% 감소 효과적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ablation: 거의 변화 없음 (proxy variable)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AUROC 손실 1% 미만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발견 — proxy variable 문제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연령 정보가 DAYS_EMPLOYED, OWN_CAR_AGE 등에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간접 인코딩되어 단순 제거로 해결 안 됨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Fairness-aware 학습이 future work로 자연스럽게 도출</a:t>
            </a:r>
          </a:p>
        </p:txBody>
      </p:sp>
      <p:pic>
        <p:nvPicPr>
          <p:cNvPr id="7" name="Picture 6" descr="19_fairness_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440000"/>
            <a:ext cx="7469901" cy="36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22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baseline vs ablated AUROC + DP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8. XAI-RAG Demo (idx 59291)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True Positive — 예측 P(default)=0.948, 결정 REJECT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한 명의 인스턴스가 4단계 파이프라인을 통과하는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① SHAP Top 5 (거절 측 요인)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800000"/>
            <a:ext cx="522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222"/>
                </a:solidFill>
                <a:ea typeface="Malgun Gothic"/>
                <a:latin typeface="Malgun Gothic"/>
              </a:rPr>
              <a:t>1. 외부 신용평가 점수 3 = 0.0633754  (SHAP +1.044)
2. 외부 신용평가 점수 2 = 0.154032  (SHAP +0.492)
3. 구매 대상 상품 가격 = 450,000  (SHAP +0.234)
4. 등록 도시와 실거주 도시 불일치 = 1  (SHAP +0.158)
5. 재직 일수(음수: 신청일 기준) = 0년 재직  (SHAP +0.139)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② Claude Sonnet 4.5 자연어 설명 (발췌)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2000" y="1800000"/>
            <a:ext cx="522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2222"/>
                </a:solidFill>
                <a:ea typeface="Malgun Gothic"/>
                <a:latin typeface="Malgun Gothic"/>
              </a:rPr>
              <a:t>[결정 요약]
신청 결과: 대출 신청이 거절되었습니다(예측 부도 확률 94.84%, 기준 47.58%).
[주요 거절 사유]
1. 외부 신용평가 점수 3이 0.0634로 매우 낮게 평가되어 부도 가능성을 크게 높였습니다.
2. 외부 신용평가 점수 2도 0.1540으로 낮은 수준입니다.
3. 재직 일수가 0년으로 확인되어 소득 안정성 측면에서 부정적으로 작용했습니다.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57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→ SHAP의 모든 변수·값·부호가 자연어 설명에 그대로 인용됨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9. 정량 평가 (RQ3)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Faithfulness · Hallucination · G-Eval — 두 LLM 모두에서 환각 0%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Hallucination Rate =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 2.5 Flash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 Sonnet 4.5 0.000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G-Eval (Gemini self-judge, n=8)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factual_accuracy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sensitive_leak 5.0 / 5 (민감변수 마스킹 완벽)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style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completeness 3.4 / 5 (출력 schema 길이 제한 영향)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Faithfulness 룰 기반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val_match Claude 0.901 vs Gemini 0.811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sign_match Claude 0.867 vs Gemini 0.783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효율성 (호출당)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Claude: 8.4초 / 2,500 토큰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Gemini: 12.7초 / 4,155 토큰 (reasoning ~60%)</a:t>
            </a:r>
          </a:p>
        </p:txBody>
      </p:sp>
      <p:pic>
        <p:nvPicPr>
          <p:cNvPr id="7" name="Picture 6" descr="21_ll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11505928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Gemini vs Claude — 룰 기반 / G-Eval / 효율성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10. ★ 결정타 — SHAP이 없으면 환각이 늘어나는가?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동일 11 인스턴스 × "SHAP 컨텍스트 없는" baseline 실험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1260000"/>
            <a:ext cx="5040000" cy="198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XAI-RAG (SHAP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1260000"/>
            <a:ext cx="5040000" cy="198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Baseline (no SHAP)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45.5%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378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Claude baseline 환각 사례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414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DTI · LTV · DSR — Home Credit에 없는 일반 금융 비율 약어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"햇살론, 미소금융" — 데이터에 없는 한국 정부 지원 상품 추천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"☎ 1588-XXXX" — 가짜 고객센터 번호 생성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DEF_30_CNT — 변수명 잘림 (실제 DEF_30_CNT_SOCIAL_CIRCLE)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612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→ SHAP 컨텍스트가 LLM의 자유 추론을 직접 차단함을 입증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11. 종합 — 본 연구의 가치 3가지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 (8일 작업) 마무리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5847" y="1260000"/>
            <a:ext cx="3420000" cy="306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예측 성능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XGBoost AUROC 0.7587 ± 0.0008
5-fold 안정적 우위
TabNet 0.7518 — 비슷한 성능 +
어텐션 해석성 추가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5847" y="1260000"/>
            <a:ext cx="3420000" cy="30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해석 일관성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Spearman ρ 0.117 (전체)
−0.195 (Top-50)
어텐션 ↔ SHAP의
부분 일관 + 부분 상보 정량 검증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5847" y="1260000"/>
            <a:ext cx="3420000" cy="306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환각 차단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Hallucination Rate 0.000
(두 LLM 모두)
Baseline 45.5% vs XAI-RAG 0%
→ SHAP 컨텍스트의 직접 효과 입증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46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한 줄 메시지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220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22222"/>
                </a:solidFill>
                <a:ea typeface="Malgun Gothic"/>
                <a:latin typeface="Malgun Gothic"/>
              </a:rPr>
              <a:t>"SHAP 컨텍스트를 LLM의 검색된 근거로 재정의하면,
LLM 종속성 없이 환각이 0이 되는 자연어 설명을 생성할 수 있다."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12. 한계와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2 ~ Step 3 — 본 논문 확장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현재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평가 표본 10명 — 100~500명으로 확장 필요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보조 테이블 미사용 — bureau, previous_application 등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G-Eval self-bias — Gemini가 자기 출력 평가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Counterfactual 정량화 미수행 (정성 비교만)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Robustness 평가 (프롬프트 변형) 미수행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5A868"/>
                </a:solidFill>
                <a:ea typeface="Malgun Gothic"/>
                <a:latin typeface="Malgun Gothic"/>
              </a:rPr>
              <a:t>향후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보조 테이블 활용으로 AUROC 0.78+ 목표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Fairness-aware 학습 (Reweighing, Adversarial Debiasing)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Cross-LLM judge로 G-Eval 객관화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BERTScore 기반 Robustness 정량 평가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FT-Transformer 비교 모델 추가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인간 평가 (Plausibility) — 5점 척도, Cohen's κ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한국어 도메인 특화 LLM QLoRA 미세조정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20000"/>
            <a:ext cx="113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ea typeface="Malgun Gothic"/>
                <a:latin typeface="Malgun Gothic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3960000"/>
            <a:ext cx="11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CCDDEE"/>
                </a:solidFill>
                <a:ea typeface="Malgun Gothic"/>
                <a:latin typeface="Malgun Gothic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860000"/>
            <a:ext cx="113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DDEE"/>
                </a:solidFill>
                <a:ea typeface="Malgun Gothic"/>
                <a:latin typeface="Malgun Gothic"/>
              </a:rPr>
              <a:t>GitHub: https://github.com/Tim-Green0/tabnet-xai-rag-credit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
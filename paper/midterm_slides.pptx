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68"/>
                </a:solidFill>
                <a:ea typeface="Malgun Gothic"/>
                <a:latin typeface="Malgun Gothic"/>
              </a:rPr>
              <a:t>TabNet과 거대언어모델(LLM) 기반
XAI-RAG를 활용한 설명 가능한 신용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06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55555"/>
                </a:solidFill>
                <a:ea typeface="Malgun Gothic"/>
                <a:latin typeface="Malgun Gothic"/>
              </a:rPr>
              <a:t>석사 논문 중간 보고  |  Step 1 (8일 작업 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486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ea typeface="Malgun Gothic"/>
                <a:latin typeface="Malgun Gothic"/>
              </a:rPr>
              <a:t>전공: 데이터사이언스 · 인공지능
학번 A70067  |  오현택
지도교수: 박운상
보고일: 2026-05-10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1. 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왜 신용 평가에 "설명 가능한 자연어"가 필요한가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108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•  신용 평가 자동화의 "두 얼굴"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XGBoost·LightGBM·TabNet 같은 모델이 부도 예측 성능을 크게 끌어올림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그러나 내부 의사결정이 직관적이지 않은 "블랙박스" 특성</a:t>
            </a:r>
          </a:p>
          <a:p>
            <a:pPr algn="l"/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•  제도적·윤리적 요구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국내 금융소비자보호법 / 신용정보법 — 자동화된 신용평가 설명 의무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EU GDPR — "Right to Explanation" 보장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성별·연령 기반 잠재적 편향 → 차별 가능성</a:t>
            </a:r>
          </a:p>
          <a:p>
            <a:pPr algn="l"/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•  기존 XAI(SHAP, LIME)의 한계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변수 중요도 그래프, 기여도 수치 — 전문가 외엔 해석 어려움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"모델은 설명 가능해졌으나 사람에게는 여전히 설명되지 않는다"</a:t>
            </a:r>
          </a:p>
          <a:p>
            <a:pPr algn="l"/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•  LLM의 가능성과 위험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데이터-투-텍스트 변환에 강함</a:t>
            </a:r>
          </a:p>
          <a:p>
            <a:pPr lvl="1" algn="l"/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    –  그러나 환각(Hallucination) 문제 — 신용평가는 정확성·법적 책임이 중요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2. 연구 목표와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본 연구가 푸는 문제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ea typeface="Malgun Gothic"/>
                <a:latin typeface="Malgun Gothic"/>
              </a:rPr>
              <a:t>세 가지를 동시에 달성하는 통합 파이프라인을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84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ea typeface="Malgun Gothic"/>
                <a:latin typeface="Malgun Gothic"/>
              </a:rPr>
              <a:t>•  예측 성능: TabNet으로 트리 SOTA에 준하는 분류 성능</a:t>
            </a:r>
          </a:p>
          <a:p>
            <a:pPr algn="l"/>
            <a:r>
              <a:rPr sz="1600" b="0">
                <a:ea typeface="Malgun Gothic"/>
                <a:latin typeface="Malgun Gothic"/>
              </a:rPr>
              <a:t>•  투명한 근거: SHAP + TabNet 어텐션의 일관성 분석</a:t>
            </a:r>
          </a:p>
          <a:p>
            <a:pPr algn="l"/>
            <a:r>
              <a:rPr sz="1600" b="0">
                <a:ea typeface="Malgun Gothic"/>
                <a:latin typeface="Malgun Gothic"/>
              </a:rPr>
              <a:t>•  자연어 설명: LLM이 SHAP 사실만 받아쓰는 XAI-RAG로 환각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360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ea typeface="Malgun Gothic"/>
                <a:latin typeface="Malgun Gothic"/>
              </a:rPr>
              <a:t>기존 연구와 본 연구의 차별점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4031999"/>
            <a:ext cx="2520000" cy="43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0" y="4031999"/>
            <a:ext cx="3960000" cy="43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기존 연구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0" y="4031999"/>
            <a:ext cx="4680000" cy="43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본 연구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4463999"/>
            <a:ext cx="2520000" cy="432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LLM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0" y="4463999"/>
            <a:ext cx="3960000" cy="432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분류기 또는 단순 변환기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0" y="4463999"/>
            <a:ext cx="4680000" cy="432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XAI-RAG로 환각 차단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895999"/>
            <a:ext cx="252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설명 평가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0" y="4895999"/>
            <a:ext cx="396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정성적 사례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0000" y="4895999"/>
            <a:ext cx="468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Faithfulness · Hallucination · G-Eval 정량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5327999"/>
            <a:ext cx="2520000" cy="432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어텐션 vs SHAP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0" y="5327999"/>
            <a:ext cx="3960000" cy="432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암묵적 가정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0000" y="5327999"/>
            <a:ext cx="4680000" cy="432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Spearman / Top-K 정량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3. 프레임워크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정형 데이터 → 예측 → 해석 → 컨텍스트 → 자연어 설명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5847" y="1620000"/>
            <a:ext cx="2520000" cy="1620000"/>
          </a:xfrm>
          <a:prstGeom prst="round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Malgun Gothic"/>
                <a:latin typeface="Malgun Gothic"/>
              </a:rPr>
              <a:t>① 예측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TabNet / XGBoost
P(default) 산출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53847" y="2286000"/>
            <a:ext cx="324000" cy="2880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95847" y="1620000"/>
            <a:ext cx="2520000" cy="1620000"/>
          </a:xfrm>
          <a:prstGeom prst="roundRect">
            <a:avLst/>
          </a:prstGeom>
          <a:solidFill>
            <a:srgbClr val="DD8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Malgun Gothic"/>
                <a:latin typeface="Malgun Gothic"/>
              </a:rPr>
              <a:t>② 해석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SHAP local +
TabNet 어텐션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3847" y="2286000"/>
            <a:ext cx="324000" cy="2880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5847" y="1620000"/>
            <a:ext cx="2520000" cy="162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Malgun Gothic"/>
                <a:latin typeface="Malgun Gothic"/>
              </a:rPr>
              <a:t>③ 컨텍스트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JSON 사실 단위
+ 민감변수 마스킹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13847" y="2286000"/>
            <a:ext cx="324000" cy="2880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55847" y="1620000"/>
            <a:ext cx="2520000" cy="1620000"/>
          </a:xfrm>
          <a:prstGeom prst="roundRect">
            <a:avLst/>
          </a:prstGeom>
          <a:solidFill>
            <a:srgbClr val="8C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ea typeface="Malgun Gothic"/>
                <a:latin typeface="Malgun Gothic"/>
              </a:rPr>
              <a:t>④ 생성+평가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LLM 자연어 설명
+ Faithfulness/Halluc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396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44E52"/>
                </a:solidFill>
                <a:ea typeface="Malgun Gothic"/>
                <a:latin typeface="Malgun Gothic"/>
              </a:rPr>
              <a:t>핵심 — "LLM은 SHAP 사실만 자연어로 변환하는 역할에 한정"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450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ea typeface="Malgun Gothic"/>
                <a:latin typeface="Malgun Gothic"/>
              </a:rPr>
              <a:t>•  환각 원천 차단: 컨텍스트에 없는 변수·수치는 절대 생성 금지</a:t>
            </a:r>
          </a:p>
          <a:p>
            <a:pPr algn="l"/>
            <a:r>
              <a:rPr sz="1400" b="0">
                <a:ea typeface="Malgun Gothic"/>
                <a:latin typeface="Malgun Gothic"/>
              </a:rPr>
              <a:t>•  민감 변수 마스킹: 성별·연령 직접 노출 금지</a:t>
            </a:r>
          </a:p>
          <a:p>
            <a:pPr algn="l"/>
            <a:r>
              <a:rPr sz="1400" b="0">
                <a:ea typeface="Malgun Gothic"/>
                <a:latin typeface="Malgun Gothic"/>
              </a:rPr>
              <a:t>•  SHAP 부호 정확 반영: 양수는 부도↑, 음수는 부도↓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4. 데이터와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Home Credit Default Risk (Kaggle) — 메인 테이블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54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ea typeface="Malgun Gothic"/>
                <a:latin typeface="Malgun Gothic"/>
              </a:rPr>
              <a:t>•  307,511 행 × 122 컬럼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TARGET 분포 8.07% (불균형)</a:t>
            </a:r>
          </a:p>
          <a:p>
            <a:pPr lvl="1" algn="l"/>
            <a:r>
              <a:rPr sz="1100" b="0">
                <a:solidFill>
                  <a:srgbClr val="555555"/>
                </a:solidFill>
                <a:ea typeface="Malgun Gothic"/>
                <a:latin typeface="Malgun Gothic"/>
              </a:rPr>
              <a:t>    –  AUROC, AUPRC, KS 위주 평가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EXT_SOURCE_2 / 3 가 단연 강한 신호</a:t>
            </a:r>
          </a:p>
          <a:p>
            <a:pPr lvl="1" algn="l"/>
            <a:r>
              <a:rPr sz="1100" b="0">
                <a:solidFill>
                  <a:srgbClr val="555555"/>
                </a:solidFill>
                <a:ea typeface="Malgun Gothic"/>
                <a:latin typeface="Malgun Gothic"/>
              </a:rPr>
              <a:t>    –  |ρ| 0.16~0.18, 다른 변수는 0.06 미만</a:t>
            </a:r>
          </a:p>
          <a:p>
            <a:pPr lvl="1" algn="l"/>
            <a:r>
              <a:rPr sz="1100" b="0">
                <a:solidFill>
                  <a:srgbClr val="555555"/>
                </a:solidFill>
                <a:ea typeface="Malgun Gothic"/>
                <a:latin typeface="Malgun Gothic"/>
              </a:rPr>
              <a:t>    –  → 비선형/상호작용이 핵심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결측 50%+ 컬럼 41개</a:t>
            </a:r>
          </a:p>
          <a:p>
            <a:pPr lvl="1" algn="l"/>
            <a:r>
              <a:rPr sz="1100" b="0">
                <a:solidFill>
                  <a:srgbClr val="555555"/>
                </a:solidFill>
                <a:ea typeface="Malgun Gothic"/>
                <a:latin typeface="Malgun Gothic"/>
              </a:rPr>
              <a:t>    –  *_MISSING_FLAG 변수 추가로 보존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DAYS_EMPLOYED 365243 sentinel (18%)</a:t>
            </a:r>
          </a:p>
          <a:p>
            <a:pPr lvl="1" algn="l"/>
            <a:r>
              <a:rPr sz="1100" b="0">
                <a:solidFill>
                  <a:srgbClr val="555555"/>
                </a:solidFill>
                <a:ea typeface="Malgun Gothic"/>
                <a:latin typeface="Malgun Gothic"/>
              </a:rPr>
              <a:t>    –  NaN + EMPLOYED_FLAG 처리</a:t>
            </a:r>
          </a:p>
          <a:p>
            <a:pPr algn="l"/>
            <a:r>
              <a:rPr sz="1300" b="1">
                <a:solidFill>
                  <a:srgbClr val="C44E52"/>
                </a:solidFill>
                <a:ea typeface="Malgun Gothic"/>
                <a:latin typeface="Malgun Gothic"/>
              </a:rPr>
              <a:t>•  공정성 신호 이미 데이터에 존재</a:t>
            </a:r>
          </a:p>
          <a:p>
            <a:pPr lvl="1" algn="l"/>
            <a:r>
              <a:rPr sz="1100" b="0">
                <a:solidFill>
                  <a:srgbClr val="555555"/>
                </a:solidFill>
                <a:ea typeface="Malgun Gothic"/>
                <a:latin typeface="Malgun Gothic"/>
              </a:rPr>
              <a:t>    –  남성 부도율 1.45배, 25세 미만 vs 65세+ 3.4배</a:t>
            </a:r>
          </a:p>
        </p:txBody>
      </p:sp>
      <p:pic>
        <p:nvPicPr>
          <p:cNvPr id="7" name="Picture 6" descr="03_protected_att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260000"/>
            <a:ext cx="5580000" cy="414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0" y="5472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그림. 성별·연령별 부도율 차이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5. 모델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5-fold Stratified CV — test set, mean ± std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1152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152000"/>
            <a:ext cx="16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AUROC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2000" y="1152000"/>
            <a:ext cx="16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AUPRC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2000" y="1152000"/>
            <a:ext cx="16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152000"/>
            <a:ext cx="198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특징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512000"/>
            <a:ext cx="1152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XGBoost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2000" y="1512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0.7587 ± 0.0008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2000" y="1512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0.2445 ± 0.0011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2000" y="1512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0.3846 ± 0.0015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2000" y="1512000"/>
            <a:ext cx="198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5/5 fold 1등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872000"/>
            <a:ext cx="1152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LightGBM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2000" y="1872000"/>
            <a:ext cx="16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0.7544 ± 0.0009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2000" y="1872000"/>
            <a:ext cx="16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0.2402 ± 0.0018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2000" y="1872000"/>
            <a:ext cx="16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0.3788 ± 0.0028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2000" y="1872000"/>
            <a:ext cx="198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가장 빠름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2232000"/>
            <a:ext cx="1152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Logistic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12000" y="2232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0.7544 ± 0.0001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2000" y="2232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0.2343 ± 0.0006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2000" y="2232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0.3804 ± 0.0010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2000" y="2232000"/>
            <a:ext cx="198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최고 안정성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2592000"/>
            <a:ext cx="1152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TabNet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12000" y="2592000"/>
            <a:ext cx="16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0.7518 ± 0.0017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2000" y="2592000"/>
            <a:ext cx="16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0.2331 ± 0.0023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2000" y="2592000"/>
            <a:ext cx="16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0.3749 ± 0.0056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2000" y="2592000"/>
            <a:ext cx="198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어텐션 해석성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3240000"/>
            <a:ext cx="11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A868"/>
                </a:solidFill>
                <a:ea typeface="Malgun Gothic"/>
                <a:latin typeface="Malgun Gothic"/>
              </a:rPr>
              <a:t>•  표준편차 0.001 안팎 — 단발 운이 아닌 안정적인 격차</a:t>
            </a:r>
          </a:p>
          <a:p>
            <a:pPr algn="l"/>
            <a:r>
              <a:rPr sz="1400" b="0">
                <a:ea typeface="Malgun Gothic"/>
                <a:latin typeface="Malgun Gothic"/>
              </a:rPr>
              <a:t>•  XGBoost가 미세하게 1등이지만 TabNet과 차이는 0.007 AUROC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성능보다 어텐션 해석성이 본 연구의 핵심 가치</a:t>
            </a:r>
          </a:p>
          <a:p>
            <a:pPr algn="l"/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•  본 메시지: "TabNet은 비교 가능한 성능 + 추가 해석성"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6. SHAP과 어텐션은 같은 것을 말하는가?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RQ2 — 두 해석 방법의 일관성 정량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54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ea typeface="Malgun Gothic"/>
                <a:latin typeface="Malgun Gothic"/>
              </a:rPr>
              <a:t>•  측정 방법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TabNet 어텐션 importance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SHAP global (KernelExplainer, 200 샘플)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Spearman 상관 + Top-K 교집합/Jaccard</a:t>
            </a:r>
          </a:p>
          <a:p>
            <a:pPr algn="l"/>
            <a:r>
              <a:rPr sz="1200" b="1">
                <a:solidFill>
                  <a:srgbClr val="C44E52"/>
                </a:solidFill>
                <a:ea typeface="Malgun Gothic"/>
                <a:latin typeface="Malgun Gothic"/>
              </a:rPr>
              <a:t>•  결과 — 부분 일관 + 부분 상보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Spearman ρ (전체) = 0.117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Spearman ρ (Top-50 합집합) = −0.195 (음수!)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Top-20 교집합 = 9 / 20 (Jaccard 0.29)</a:t>
            </a:r>
          </a:p>
          <a:p>
            <a:pPr algn="l"/>
            <a:r>
              <a:rPr sz="1200" b="1">
                <a:ea typeface="Malgun Gothic"/>
                <a:latin typeface="Malgun Gothic"/>
              </a:rPr>
              <a:t>•  교집합 9개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EXT_SOURCE_2/3, DAYS_EMPLOYED, ORGANIZATION_TYPE,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NAME_CONTRACT_TYPE_Revolving loans, CODE_GENDER_M 등</a:t>
            </a:r>
          </a:p>
          <a:p>
            <a:pPr algn="l"/>
            <a:r>
              <a:rPr sz="1200" b="1">
                <a:solidFill>
                  <a:srgbClr val="55A868"/>
                </a:solidFill>
                <a:ea typeface="Malgun Gothic"/>
                <a:latin typeface="Malgun Gothic"/>
              </a:rPr>
              <a:t>•  결론 — 두 방법 함께 활용해야 입체적 해석</a:t>
            </a:r>
          </a:p>
        </p:txBody>
      </p:sp>
      <p:pic>
        <p:nvPicPr>
          <p:cNvPr id="7" name="Picture 6" descr="16_attention_vs_sha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260000"/>
            <a:ext cx="8995113" cy="39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0" y="54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그림. 어텐션 vs SHAP 산점도 (좌: 전체, 우: Top-20)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7. 공정성 진단 +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DP / EO / EOdds / DI — 8개 케이스 모두 4/5 rule 위반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54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ea typeface="Malgun Gothic"/>
                <a:latin typeface="Malgun Gothic"/>
              </a:rPr>
              <a:t>•  베이스라인 (4 모델 × {GENDER, AGE} = 8건)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전부 DI &lt; 0.8 (4/5 rule 위반)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AGE DI ≈ 0.50, GENDER DI ≈ 0.62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→ 알고리즘이 아닌 데이터 차원 편향</a:t>
            </a:r>
          </a:p>
          <a:p>
            <a:pPr algn="l"/>
            <a:r>
              <a:rPr sz="1200" b="1">
                <a:solidFill>
                  <a:srgbClr val="1F3A68"/>
                </a:solidFill>
                <a:ea typeface="Malgun Gothic"/>
                <a:latin typeface="Malgun Gothic"/>
              </a:rPr>
              <a:t>•  Ablation (CODE_GENDER, DAYS_BIRTH 제거 후 재학습)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GENDER ablation: DP −36~40% 감소 효과적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AGE ablation: 거의 변화 없음 (proxy variable)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AUROC 손실 1% 미만</a:t>
            </a:r>
          </a:p>
          <a:p>
            <a:pPr algn="l"/>
            <a:r>
              <a:rPr sz="1200" b="1">
                <a:solidFill>
                  <a:srgbClr val="C44E52"/>
                </a:solidFill>
                <a:ea typeface="Malgun Gothic"/>
                <a:latin typeface="Malgun Gothic"/>
              </a:rPr>
              <a:t>•  발견 — proxy variable 문제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연령 정보가 DAYS_EMPLOYED, OWN_CAR_AGE 등에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간접 인코딩되어 단순 제거로 해결 안 됨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→ Fairness-aware 학습이 future work로 자연스럽게 도출</a:t>
            </a:r>
          </a:p>
        </p:txBody>
      </p:sp>
      <p:pic>
        <p:nvPicPr>
          <p:cNvPr id="7" name="Picture 6" descr="19_fairness_mi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440000"/>
            <a:ext cx="7469901" cy="36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0" y="522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그림. baseline vs ablated AUROC + DP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8. XAI-RAG Demo (idx 59291)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True Positive — 예측 P(default)=0.948, 결정 REJECT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한 명의 인스턴스가 4단계 파이프라인을 통과하는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51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222"/>
                </a:solidFill>
                <a:ea typeface="Malgun Gothic"/>
                <a:latin typeface="Malgun Gothic"/>
              </a:rPr>
              <a:t>① SHAP Top 5 (거절 측 요인)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800000"/>
            <a:ext cx="522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1. 외부 신용평가 점수 3 = 0.0633754  (SHAP +1.044)
2. 외부 신용평가 점수 2 = 0.154032  (SHAP +0.492)
3. 구매 대상 상품 가격 = 450,000  (SHAP +0.234)
4. 등록 도시와 실거주 도시 불일치 = 1  (SHAP +0.158)
5. 재직 일수(음수: 신청일 기준) = 0년 재직  (SHAP +0.139)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51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2222"/>
                </a:solidFill>
                <a:ea typeface="Malgun Gothic"/>
                <a:latin typeface="Malgun Gothic"/>
              </a:rPr>
              <a:t>② Claude Sonnet 4.5 자연어 설명 (발췌)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800000"/>
            <a:ext cx="522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ea typeface="Malgun Gothic"/>
                <a:latin typeface="Malgun Gothic"/>
              </a:rPr>
              <a:t>[결정 요약]
신청 결과: 대출 신청이 거절되었습니다(예측 부도 확률 94.84%, 기준 47.58%).
[주요 거절 사유]
1. 외부 신용평가 점수 3이 0.0634로 매우 낮게 평가되어 부도 가능성을 크게 높였습니다.
2. 외부 신용평가 점수 2도 0.1540으로 낮은 수준입니다.
3. 재직 일수가 0년으로 확인되어 소득 안정성 측면에서 부정적으로 작용했습니다.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576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A868"/>
                </a:solidFill>
                <a:ea typeface="Malgun Gothic"/>
                <a:latin typeface="Malgun Gothic"/>
              </a:rPr>
              <a:t>→ SHAP의 모든 변수·값·부호가 자연어 설명에 그대로 인용됨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9. 정량 평가 (RQ3)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Faithfulness · Hallucination · G-Eval — 두 LLM 모두에서 환각 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54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A868"/>
                </a:solidFill>
                <a:ea typeface="Malgun Gothic"/>
                <a:latin typeface="Malgun Gothic"/>
              </a:rPr>
              <a:t>•  Hallucination Rate = 0.000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Gemini 2.5 Flash 0.000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Claude Sonnet 4.5 0.000</a:t>
            </a:r>
          </a:p>
          <a:p>
            <a:pPr algn="l"/>
            <a:r>
              <a:rPr sz="1200" b="1">
                <a:solidFill>
                  <a:srgbClr val="1F3A68"/>
                </a:solidFill>
                <a:ea typeface="Malgun Gothic"/>
                <a:latin typeface="Malgun Gothic"/>
              </a:rPr>
              <a:t>•  G-Eval (Gemini self-judge, n=8)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factual_accuracy 5.0 / 5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sensitive_leak 5.0 / 5 (민감변수 마스킹 완벽)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style 5.0 / 5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completeness 3.4 / 5 (출력 schema 길이 제한 영향)</a:t>
            </a:r>
          </a:p>
          <a:p>
            <a:pPr algn="l"/>
            <a:r>
              <a:rPr sz="1200" b="1">
                <a:solidFill>
                  <a:srgbClr val="1F3A68"/>
                </a:solidFill>
                <a:ea typeface="Malgun Gothic"/>
                <a:latin typeface="Malgun Gothic"/>
              </a:rPr>
              <a:t>•  Faithfulness 룰 기반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val_match Claude 0.901 vs Gemini 0.811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sign_match Claude 0.867 vs Gemini 0.783</a:t>
            </a:r>
          </a:p>
          <a:p>
            <a:pPr algn="l"/>
            <a:r>
              <a:rPr sz="1200" b="1">
                <a:solidFill>
                  <a:srgbClr val="1F3A68"/>
                </a:solidFill>
                <a:ea typeface="Malgun Gothic"/>
                <a:latin typeface="Malgun Gothic"/>
              </a:rPr>
              <a:t>•  효율성 (호출당)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Claude: 8.4초 / 2,500 토큰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Gemini: 12.7초 / 4,155 토큰 (reasoning ~60%)</a:t>
            </a:r>
          </a:p>
        </p:txBody>
      </p:sp>
      <p:pic>
        <p:nvPicPr>
          <p:cNvPr id="7" name="Picture 6" descr="21_ll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260000"/>
            <a:ext cx="11505928" cy="39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0" y="54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그림. Gemini vs Claude — 룰 기반 / G-Eval / 효율성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10. ★ 결정타 — SHAP이 없으면 환각이 늘어나는가?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동일 11 인스턴스 × "SHAP 컨텍스트 없는" baseline 실험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000" y="1260000"/>
            <a:ext cx="5040000" cy="198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4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XAI-RAG (SHAP context)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908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ea typeface="Malgun Gothic"/>
                <a:latin typeface="Malgun Gothic"/>
              </a:rPr>
              <a:t>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880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Claude Sonnet 4.5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1260000"/>
            <a:ext cx="5040000" cy="1980000"/>
          </a:xfrm>
          <a:prstGeom prst="round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0" y="144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Baseline (no SHAP)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1908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ea typeface="Malgun Gothic"/>
                <a:latin typeface="Malgun Gothic"/>
              </a:rPr>
              <a:t>45.5%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2880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Claude Sonnet 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37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Claude baseline 환각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140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ea typeface="Malgun Gothic"/>
                <a:latin typeface="Malgun Gothic"/>
              </a:rPr>
              <a:t>•  DTI · LTV · DSR — Home Credit에 없는 일반 금융 비율 약어</a:t>
            </a:r>
          </a:p>
          <a:p>
            <a:pPr algn="l"/>
            <a:r>
              <a:rPr sz="1400" b="0">
                <a:ea typeface="Malgun Gothic"/>
                <a:latin typeface="Malgun Gothic"/>
              </a:rPr>
              <a:t>•  "햇살론, 미소금융" — 데이터에 없는 한국 정부 지원 상품 추천</a:t>
            </a:r>
          </a:p>
          <a:p>
            <a:pPr algn="l"/>
            <a:r>
              <a:rPr sz="1400" b="0">
                <a:ea typeface="Malgun Gothic"/>
                <a:latin typeface="Malgun Gothic"/>
              </a:rPr>
              <a:t>•  "☎ 1588-XXXX" — 가짜 고객센터 번호 생성</a:t>
            </a:r>
          </a:p>
          <a:p>
            <a:pPr algn="l"/>
            <a:r>
              <a:rPr sz="1400" b="0">
                <a:ea typeface="Malgun Gothic"/>
                <a:latin typeface="Malgun Gothic"/>
              </a:rPr>
              <a:t>•  DEF_30_CNT — 변수명 잘림 (실제 DEF_30_CNT_SOCIAL_CIRCLE)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612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44E52"/>
                </a:solidFill>
                <a:ea typeface="Malgun Gothic"/>
                <a:latin typeface="Malgun Gothic"/>
              </a:rPr>
              <a:t>→ SHAP 컨텍스트가 LLM의 자유 추론을 직접 차단함을 입증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11. ★ Step 2-A — 100명 표본에서도 환각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Step 1의 약점(표본 10명) 해소 + 통계적 안정성 입증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ea typeface="Malgun Gothic"/>
                <a:latin typeface="Malgun Gothic"/>
              </a:rPr>
              <a:t>표본 10배 확장 후 결과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548000"/>
            <a:ext cx="5400000" cy="252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ea typeface="Malgun Gothic"/>
                <a:latin typeface="Malgun Gothic"/>
              </a:rPr>
              <a:t>Hallucination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32000"/>
            <a:ext cx="50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ea typeface="Malgun Gothic"/>
                <a:latin typeface="Malgun Gothic"/>
              </a:rPr>
              <a:t>0.000 /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24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ea typeface="Malgun Gothic"/>
                <a:latin typeface="Malgun Gothic"/>
              </a:rPr>
              <a:t>Gemini 100건 + Claude 100건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6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Step 1 (10건) 결과가 견고함을 통계로 입증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ea typeface="Malgun Gothic"/>
                <a:latin typeface="Malgun Gothic"/>
              </a:rPr>
              <a:t>Cross-LLM G-Eval (self-bias 우회)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620000"/>
            <a:ext cx="16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Judge →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0000" y="1620000"/>
            <a:ext cx="126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Factual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0" y="1620000"/>
            <a:ext cx="126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Sensitive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60000" y="1620000"/>
            <a:ext cx="126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Style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1980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Claude → Gemini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0000" y="1980000"/>
            <a:ext cx="126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4.87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1980000"/>
            <a:ext cx="126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5.00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60000" y="1980000"/>
            <a:ext cx="126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4.97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2340000"/>
            <a:ext cx="16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Gemini → Claude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40000" y="2340000"/>
            <a:ext cx="126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4.60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00" y="2340000"/>
            <a:ext cx="126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5.00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60000" y="2340000"/>
            <a:ext cx="126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5.00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306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ea typeface="Malgun Gothic"/>
                <a:latin typeface="Malgun Gothic"/>
              </a:rPr>
              <a:t>•  양 LLM 모두 factual ≥ 4.6/5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sensitive_leak 5.0/5 만점 (양방향)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Gemini self-bias가 자기 비판 방향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12. ★ Step 2-A — Counterfactual +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LLM이 컨텍스트에 의존하는가? 프롬프트 변형에 강건한가?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Counterfactual Test (top driver 1개 제거)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ea typeface="Malgun Gothic"/>
                <a:latin typeface="Malgun Gothic"/>
              </a:rPr>
              <a:t>원본 vs 변경 컨텍스트 출력 비교 (n=30)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800000"/>
            <a:ext cx="198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2340000" y="1800000"/>
            <a:ext cx="180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Cosine sim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0000" y="1800000"/>
            <a:ext cx="16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ROUGE-L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160000"/>
            <a:ext cx="198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Claude Sonnet 4.5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000" y="2160000"/>
            <a:ext cx="180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0.909 ± 0.069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40000" y="2160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520000"/>
            <a:ext cx="198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Gemini 2.5 Flash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0000" y="2520000"/>
            <a:ext cx="180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0.920 ± 0.040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0000" y="2520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306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ea typeface="Malgun Gothic"/>
                <a:latin typeface="Malgun Gothic"/>
              </a:rPr>
              <a:t>•  cosine 0.91 → 의미는 90% 유지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ROUGE-L 0.75 → 어휘는 25% 변경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→ 부분 perturbation에 부분 반응 + 일관성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Robustness (3 프롬프트 변형)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4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  <a:ea typeface="Malgun Gothic"/>
                <a:latin typeface="Malgun Gothic"/>
              </a:rPr>
              <a:t>role/example/driver_shuffle (n=20)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0" y="1800000"/>
            <a:ext cx="198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Variant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0000" y="1800000"/>
            <a:ext cx="180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Claude cosine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0000" y="1800000"/>
            <a:ext cx="16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Gemini cosine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2160000"/>
            <a:ext cx="198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role_swap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0000" y="2160000"/>
            <a:ext cx="180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00000" y="2160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0000" y="2520000"/>
            <a:ext cx="198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example_swap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0000" y="2520000"/>
            <a:ext cx="180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0000" y="2520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0000" y="2880000"/>
            <a:ext cx="198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driver_shuffle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0000" y="2880000"/>
            <a:ext cx="180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0000" y="2880000"/>
            <a:ext cx="1620000" cy="360000"/>
          </a:xfrm>
          <a:prstGeom prst="rect">
            <a:avLst/>
          </a:prstGeom>
          <a:solidFill>
            <a:srgbClr val="F4F6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0000" y="342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ea typeface="Malgun Gothic"/>
                <a:latin typeface="Malgun Gothic"/>
              </a:rPr>
              <a:t>•  양 LLM 모두 cosine ≥ 0.90 (목표 0.85+)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Gemini가 약간 더 안정적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→ 운영 환경에서도 출력 일관성 기대 가능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594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44E52"/>
                </a:solidFill>
                <a:ea typeface="Malgun Gothic"/>
                <a:latin typeface="Malgun Gothic"/>
              </a:rPr>
              <a:t>Step 1의 핵심 메시지(환각 0%, baseline 45.5%)가 통계적으로 견고함을 입증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13. Step 3-B (보너스) — 보조 테이블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발표 직전 D-5에 추가 진행한 성능 확장 (AUROC +2.22%)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7_cv_au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152000"/>
            <a:ext cx="6660000" cy="19723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00000" y="1152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44E52"/>
                </a:solidFill>
                <a:ea typeface="Malgun Gothic"/>
                <a:latin typeface="Malgun Gothic"/>
              </a:rPr>
              <a:t>AUROC 0.7587 → 0.7755 (+2.22%)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8000" y="1620000"/>
            <a:ext cx="468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68"/>
                </a:solidFill>
                <a:ea typeface="Malgun Gothic"/>
                <a:latin typeface="Malgun Gothic"/>
              </a:rPr>
              <a:t>•  추가한 보조 테이블 2개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bureau — 외부 신용기관 과거 대출 이력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previous_application — Home Credit 자체 신청 이력</a:t>
            </a:r>
          </a:p>
          <a:p>
            <a:pPr algn="l"/>
            <a:r>
              <a:rPr sz="1100" b="1">
                <a:solidFill>
                  <a:srgbClr val="1F3A68"/>
                </a:solidFill>
                <a:ea typeface="Malgun Gothic"/>
                <a:latin typeface="Malgun Gothic"/>
              </a:rPr>
              <a:t>•  5-fold CV 결과 (test set)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AUROC +0.0168 (baseline std의 21배)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AUPRC +8.21%, KS +7.81% — 불균형 분류력 강화</a:t>
            </a:r>
          </a:p>
          <a:p>
            <a:pPr algn="l"/>
            <a:r>
              <a:rPr sz="1100" b="1">
                <a:solidFill>
                  <a:srgbClr val="1F3A68"/>
                </a:solidFill>
                <a:ea typeface="Malgun Gothic"/>
                <a:latin typeface="Malgun Gothic"/>
              </a:rPr>
              <a:t>•  SHAP top 20 변화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PREV_* feature 5개 신규 진입 (rank 12, 13, 14, 16, 20)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최고 신호: 이전 거절 비율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5580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A868"/>
                </a:solidFill>
                <a:ea typeface="Malgun Gothic"/>
                <a:latin typeface="Malgun Gothic"/>
              </a:rPr>
              <a:t>★ 발견 — 외부 신용기관(bureau) feature는 top 20 진입 못함
  → main 테이블의 EXT_SOURCE_1/2/3에 외부 신용 정보가 응축돼 있을 가능성 (future work에서 ablation으로 검증)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14. ★ Step 3-C-1 — TabNet 어텐션 × SHAP 융합 컨텍스트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TabNet이 본 메커니즘에 통합 — 환각 0% 유지 + Completeness 큰 향상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0_fusion_vs_shap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080000"/>
            <a:ext cx="6840000" cy="2095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0000" y="108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융합 메커니즘 (3 그룹)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000" y="1440000"/>
            <a:ext cx="46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agreed_drivers: 두 모델 동의 강한 신호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shap_only: SHAP만 본 보완 신호 (부호 보존)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attention_only: TabNet만 본 sparse 신호 (부호 없음)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그룹 라벨을 LLM에 명시 → 가중치 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0000" y="288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Agreement 통계 (n=100)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000" y="3204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평균: agreed 2.12 / shap_only 6.98 / att_only 2.06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3+ 동의 22%, 4+ 동의 0% — 부분 일관 + 상보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0000" y="414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E52"/>
                </a:solidFill>
                <a:ea typeface="Malgun Gothic"/>
                <a:latin typeface="Malgun Gothic"/>
              </a:rPr>
              <a:t>평가 결과 (n=30 each, judge=Claude)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000" y="4464000"/>
            <a:ext cx="46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Halluc 0/30 — 양 LLM × 양 mode 모두 ✅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Completeness +0.67 (Anthropic) / +0.80 (Gemini)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Factual 4.77~4.97, Sensitive 5.0/5.0 유지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TabNet이 비교 모델 → 메커니즘 핵심으로 격상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15. ★ Step 3-C-2 — NLI로 평가 객관성 보강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룰 한계를 의미적 측정으로 입증 — Fusion이 NLI에서도 더 충실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1_nli_vs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080000"/>
            <a:ext cx="6840000" cy="2335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0000" y="108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동기 — 룰 sign_match 하락 (Step 3-C-1)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000" y="1440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Anthropic 0.87→0.65, Gemini 0.94→0.77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원인 추정: 룰 키워드 셋의 한계 (다양한 표현 못 잡음)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→ NLI로 의미적 함의를 직접 측정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0000" y="270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E52"/>
                </a:solidFill>
                <a:ea typeface="Malgun Gothic"/>
                <a:latin typeface="Malgun Gothic"/>
              </a:rPr>
              <a:t>NLI 결과 (KLUE 다국어 NLI, n=30 each)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000" y="3024000"/>
            <a:ext cx="46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Anthropic: entailment +0.21 ★, contradiction -0.18 ★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Gemini: entailment +0.12, contradiction -0.14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양 LLM 일관 — fusion이 의미적으로 더 충실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min_entailment(최악 문장) 양쪽 다 개선 또는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0000" y="48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A868"/>
                </a:solidFill>
                <a:ea typeface="Malgun Gothic"/>
                <a:latin typeface="Malgun Gothic"/>
              </a:rPr>
              <a:t>결론 — 3-tier 평가 체계 완성
★ 룰의 sign_match 하락은 키워드 한계, 진짜 환각 아님 입증
★ Rules + G-Eval + NLI 다층 검증 → 평가 신뢰성 강화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16. Step 3-C-2-f — Cross-Judge G-Eval (보너스)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Claude judge + Gemini judge 양방향으로 fusion 효과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2_cross_judge_g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080000"/>
            <a:ext cx="6840000" cy="46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0000" y="108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동기 — 단일 judge의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000" y="144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Claude judge 단독 → self-bias 또는 평가 종속 위험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Step 2-A의 Cross-LLM 패턴을 fusion에도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0000" y="252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E52"/>
                </a:solidFill>
                <a:ea typeface="Malgun Gothic"/>
                <a:latin typeface="Malgun Gothic"/>
              </a:rPr>
              <a:t>결과 (Δ = fusion - shaponly)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000" y="2880000"/>
            <a:ext cx="468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Completeness 양 judge 큰 향상: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  Claude judge +0.67/+0.80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  Gemini judge +0.90/+1.10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Sensitive 5.0/5.0 양 judge 만점 ✅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Gemini target Factual: Claude judge −0.13 vs Gemini judge +0.47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→ Cross-judge 없이는 잘못된 결론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0000" y="4968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A868"/>
                </a:solidFill>
                <a:ea typeface="Malgun Gothic"/>
                <a:latin typeface="Malgun Gothic"/>
              </a:rPr>
              <a:t>★ Cross-LLM judge로 fusion 효과 강건성 확정
★ Future work "Gemini judge cross-validation" 항목 해소
★ 평가 객관성 = NLI(자동) + Cross-LLM judge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17. ★ Step 5-A — Fairness-aware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Day 5 8/8 위반 → Reweighing으로 4/4 통과 + AUROC 손실 거의 없음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3_fairness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080000"/>
            <a:ext cx="6840000" cy="3454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0000" y="108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방법 (3가지 비교)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000" y="144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Reweighing — Kamiran-Calders sample_weight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Fairlearn ExpGrad — DP / EO constraint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보호속성: GENDER / AGE (median split)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데이터: baseline (214) + aux (1161)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0000" y="288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E52"/>
                </a:solidFill>
                <a:ea typeface="Malgun Gothic"/>
                <a:latin typeface="Malgun Gothic"/>
              </a:rPr>
              <a:t>★ Reweighing 결과 (4/4 케이스 통과)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000" y="3240000"/>
            <a:ext cx="46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baseline: AUROC -0.003 / DI 0.62→0.90 (G), 0.56→0.90 (A)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★★ aux: AUROC +0.003 / DI 0.64→0.87 (G), 0.57→0.83 (A)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→ aux에서 trade-off 사라짐 (오히려 성능 향상)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Fairlearn: DP는 AUROC -0.07~-0.08, EO는 안티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0000" y="5040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A868"/>
                </a:solidFill>
                <a:ea typeface="Malgun Gothic"/>
                <a:latin typeface="Malgun Gothic"/>
              </a:rPr>
              <a:t>★ Day 5 진단(8/8 위반) → 4/4 통과 단일 메커니즘
★ AGE도 효과적 (Day 5 "proxy" 결론 갱신)
★ 약점 #4 (Fairness mitigation) 해소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18. ★ Step 5-B — Generic RAG Baseline (4-way)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환각 차단의 본질 정량 분석 — SHAP-RAG의 진짜 차별성 재정의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5_generic_rag_3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080000"/>
            <a:ext cx="6840000" cy="39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0000" y="108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동기 — Counterfactual baseline 정당성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000" y="144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"Halluc 0% vs no-SHAP 45.5%"는 trivial 반박 가능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Generic RAG (raw + 도메인 chunks + hard constraints, SHAP X)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→ 같은 정보 + 제약, SHAP만 빠진 fair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0000" y="252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E52"/>
                </a:solidFill>
                <a:ea typeface="Malgun Gothic"/>
                <a:latin typeface="Malgun Gothic"/>
              </a:rPr>
              <a:t>결과 — 4단계 명확한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000" y="2880000"/>
            <a:ext cx="468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ea typeface="Malgun Gothic"/>
                <a:latin typeface="Malgun Gothic"/>
              </a:rPr>
              <a:t>•  Halluc: no_shap 16.7% / 다른 3개 0% (환각 = hard constraints 효과)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NLI Entailment ★ 4단계: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  no_shap 0.27~0.43 → generic 0.36~0.37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  → shaponly 0.41~0.51 → ★ fusion 0.62~0.62</a:t>
            </a:r>
          </a:p>
          <a:p>
            <a:pPr algn="l"/>
            <a:r>
              <a:rPr sz="1100" b="0">
                <a:ea typeface="Malgun Gothic"/>
                <a:latin typeface="Malgun Gothic"/>
              </a:rPr>
              <a:t>•  val_match: 0.59→0.73→0.85→0.90 (Anthropic)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0000" y="486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A868"/>
                </a:solidFill>
                <a:ea typeface="Malgun Gothic"/>
                <a:latin typeface="Malgun Gothic"/>
              </a:rPr>
              <a:t>★ 본 연구의 진짜 차별성 = 의미적 충실성 + 값 정확 인용
★ 환각 차단은 Generic RAG로 모방 가능 (정직 인정)
★ 약점 #3 정량 해소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19. 종합 — 본 연구의 가치 6가지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Step 1 + 2-A + 3-B + 3-C + 5-A + 5-B 마무리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5847" y="1260000"/>
            <a:ext cx="2052000" cy="3060000"/>
          </a:xfrm>
          <a:prstGeom prst="round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rIns="216000" tIns="216000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예측 성능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
XGBoost 0.7587
→ 0.7755
(Step 3-B aux, +2.22%)
TabNet 어텐션
융합 컨텍스트에 통합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7847" y="1260000"/>
            <a:ext cx="2052000" cy="306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rIns="216000" tIns="216000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해석 융합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
ρ=0.117 부분 일관
+ instance-level
3+ 동의 22% / 4+ 동의 0%
agreement-aware
컨텍스트로 LLM에
의미 라벨 전달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9847" y="1260000"/>
            <a:ext cx="2052000" cy="3060000"/>
          </a:xfrm>
          <a:prstGeom prst="round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rIns="216000" tIns="216000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환각 차단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
Halluc 0/100
(Step 1/2-A) →
0/30 (3-C-1)
Generic RAG도 0%
(5-B, hard constraints
효과 입증)
NLI contradiction
−0.14~−0.18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1847" y="1260000"/>
            <a:ext cx="2052000" cy="3060000"/>
          </a:xfrm>
          <a:prstGeom prst="roundRect">
            <a:avLst/>
          </a:prstGeom>
          <a:solidFill>
            <a:srgbClr val="DD8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rIns="216000" tIns="216000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완결성·충실성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
G-Eval Compl.
Claude +0.67~+0.80
Gemini +0.90~+1.10
NLI Entailment 4단계:
.27→.37→.51→.62
(no→gen→shap→fus)
★ fusion이 압도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3847" y="1260000"/>
            <a:ext cx="2052000" cy="3060000"/>
          </a:xfrm>
          <a:prstGeom prst="roundRect">
            <a:avLst/>
          </a:prstGeom>
          <a:solidFill>
            <a:srgbClr val="8C7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rIns="216000" tIns="216000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공정성 mitigation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
Day 5: 8/8 4/5 rule
위반 진단
Reweighing:
4/4 케이스 통과 ✅
aux 데이터 trade-off
사라짐 (+0.003 AUROC)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46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한 줄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522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ea typeface="Malgun Gothic"/>
                <a:latin typeface="Malgun Gothic"/>
              </a:rPr>
              <a:t>"SHAP 컨텍스트를 LLM의 검색된 근거로 재정의하면,
LLM 종속성 없이 환각이 0이 되는 자연어 설명을 생성할 수 있다."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20. 한계와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Step 3-B/3-C/5-A/5-B 완료 / 잔여는 본 논문 확장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44E52"/>
                </a:solidFill>
                <a:ea typeface="Malgun Gothic"/>
                <a:latin typeface="Malgun Gothic"/>
              </a:rPr>
              <a:t>현재 한계 / 진행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440000"/>
            <a:ext cx="54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ea typeface="Malgun Gothic"/>
                <a:latin typeface="Malgun Gothic"/>
              </a:rPr>
              <a:t>•  Fusion 평가 표본 30명 — 100명+ 확장 검토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인간평가 (Plausibility) 미수행 — IRB 절차 필요 ★ 1순위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데이터 단일 (Home Credit) — UCI German Credit 미검증 ★ 2순위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보조 테이블 2/6개 활용 (Step 3-B) — 4개 잔여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Bureau의 SHAP 미진입 — EXT_SOURCE 응축 가설 검증 필요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TabNet-only 컨텍스트 ablation 미수행 (3-way)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no_shap 표본 작음 (n=2 in 30 idx) — 표본 확장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5A868"/>
                </a:solidFill>
                <a:ea typeface="Malgun Gothic"/>
                <a:latin typeface="Malgun Gothic"/>
              </a:rPr>
              <a:t>향후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1440000"/>
            <a:ext cx="54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ea typeface="Malgun Gothic"/>
                <a:latin typeface="Malgun Gothic"/>
              </a:rPr>
              <a:t>•  인간 평가 (Plausibility) — IRB + 5점 척도, Cohen's κ ★ 1순위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UCI German Credit 일반화 ★ 2순위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3-way ablation: SHAP-only / Attn-only / Fusion ★ 3순위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Bureau ablation — EXT_SOURCE 응축 가설 검증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Fusion 표본 100명 확장 + counterfactual 결합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잔여 보조 테이블 4개로 AUROC 0.78+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Adversarial Debiasing (TabNet head) — Reweighing 보완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20000"/>
            <a:ext cx="11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ea typeface="Malgun Gothic"/>
                <a:latin typeface="Malgun Gothic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3960000"/>
            <a:ext cx="11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CCDDEE"/>
                </a:solidFill>
                <a:ea typeface="Malgun Gothic"/>
                <a:latin typeface="Malgun Gothi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0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DEE"/>
                </a:solidFill>
                <a:ea typeface="Malgun Gothic"/>
                <a:latin typeface="Malgun Gothic"/>
              </a:rPr>
              <a:t>GitHub: https://github.com/Tim-Green0/tabnet-xai-rag-credit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
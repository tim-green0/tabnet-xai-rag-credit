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0000" cy="6858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20000"/>
            <a:ext cx="100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3A68"/>
                </a:solidFill>
                <a:ea typeface="Malgun Gothic"/>
                <a:latin typeface="Malgun Gothic"/>
              </a:rPr>
              <a:t>TabNet과 거대언어모델(LLM) 기반
XAI-RAG를 활용한 설명 가능한 신용 평가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0000" y="3060000"/>
            <a:ext cx="100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555555"/>
                </a:solidFill>
                <a:ea typeface="Malgun Gothic"/>
                <a:latin typeface="Malgun Gothic"/>
              </a:rPr>
              <a:t>석사 논문 중간 보고  |  Step 1 (8일 작업 완료)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0000" y="4860000"/>
            <a:ext cx="100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222222"/>
                </a:solidFill>
                <a:ea typeface="Malgun Gothic"/>
                <a:latin typeface="Malgun Gothic"/>
              </a:rPr>
              <a:t>전공: 데이터사이언스 · 인공지능
학번 A70067  |  오현택
지도교수: 박운상
보고일: 2026-05-10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1. 연구 배경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왜 신용 평가에 "설명 가능한 자연어"가 필요한가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1152000"/>
            <a:ext cx="10800000" cy="5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ea typeface="Malgun Gothic"/>
                <a:latin typeface="Malgun Gothic"/>
              </a:rPr>
              <a:t>•  신용 평가 자동화의 "두 얼굴"</a:t>
            </a:r>
          </a:p>
          <a:p>
            <a:pPr lvl="1" algn="l"/>
            <a:r>
              <a:rPr sz="1300" b="0">
                <a:solidFill>
                  <a:srgbClr val="555555"/>
                </a:solidFill>
                <a:ea typeface="Malgun Gothic"/>
                <a:latin typeface="Malgun Gothic"/>
              </a:rPr>
              <a:t>    –  XGBoost·LightGBM·TabNet 같은 모델이 부도 예측 성능을 크게 끌어올림</a:t>
            </a:r>
          </a:p>
          <a:p>
            <a:pPr lvl="1" algn="l"/>
            <a:r>
              <a:rPr sz="1300" b="0">
                <a:solidFill>
                  <a:srgbClr val="555555"/>
                </a:solidFill>
                <a:ea typeface="Malgun Gothic"/>
                <a:latin typeface="Malgun Gothic"/>
              </a:rPr>
              <a:t>    –  그러나 내부 의사결정이 직관적이지 않은 "블랙박스" 특성</a:t>
            </a:r>
          </a:p>
          <a:p>
            <a:pPr algn="l"/>
            <a:r>
              <a:rPr sz="1500" b="1">
                <a:solidFill>
                  <a:srgbClr val="1F3A68"/>
                </a:solidFill>
                <a:ea typeface="Malgun Gothic"/>
                <a:latin typeface="Malgun Gothic"/>
              </a:rPr>
              <a:t>•  제도적·윤리적 요구</a:t>
            </a:r>
          </a:p>
          <a:p>
            <a:pPr lvl="1" algn="l"/>
            <a:r>
              <a:rPr sz="1300" b="0">
                <a:solidFill>
                  <a:srgbClr val="555555"/>
                </a:solidFill>
                <a:ea typeface="Malgun Gothic"/>
                <a:latin typeface="Malgun Gothic"/>
              </a:rPr>
              <a:t>    –  국내 금융소비자보호법 / 신용정보법 — 자동화된 신용평가 설명 의무</a:t>
            </a:r>
          </a:p>
          <a:p>
            <a:pPr lvl="1" algn="l"/>
            <a:r>
              <a:rPr sz="1300" b="0">
                <a:solidFill>
                  <a:srgbClr val="555555"/>
                </a:solidFill>
                <a:ea typeface="Malgun Gothic"/>
                <a:latin typeface="Malgun Gothic"/>
              </a:rPr>
              <a:t>    –  EU GDPR — "Right to Explanation" 보장</a:t>
            </a:r>
          </a:p>
          <a:p>
            <a:pPr lvl="1" algn="l"/>
            <a:r>
              <a:rPr sz="1300" b="0">
                <a:solidFill>
                  <a:srgbClr val="555555"/>
                </a:solidFill>
                <a:ea typeface="Malgun Gothic"/>
                <a:latin typeface="Malgun Gothic"/>
              </a:rPr>
              <a:t>    –  성별·연령 기반 잠재적 편향 → 차별 가능성</a:t>
            </a:r>
          </a:p>
          <a:p>
            <a:pPr algn="l"/>
            <a:r>
              <a:rPr sz="1500" b="1">
                <a:solidFill>
                  <a:srgbClr val="1F3A68"/>
                </a:solidFill>
                <a:ea typeface="Malgun Gothic"/>
                <a:latin typeface="Malgun Gothic"/>
              </a:rPr>
              <a:t>•  기존 XAI(SHAP, LIME)의 한계</a:t>
            </a:r>
          </a:p>
          <a:p>
            <a:pPr lvl="1" algn="l"/>
            <a:r>
              <a:rPr sz="1300" b="0">
                <a:solidFill>
                  <a:srgbClr val="555555"/>
                </a:solidFill>
                <a:ea typeface="Malgun Gothic"/>
                <a:latin typeface="Malgun Gothic"/>
              </a:rPr>
              <a:t>    –  변수 중요도 그래프, 기여도 수치 — 전문가 외엔 해석 어려움</a:t>
            </a:r>
          </a:p>
          <a:p>
            <a:pPr lvl="1" algn="l"/>
            <a:r>
              <a:rPr sz="1300" b="0">
                <a:solidFill>
                  <a:srgbClr val="555555"/>
                </a:solidFill>
                <a:ea typeface="Malgun Gothic"/>
                <a:latin typeface="Malgun Gothic"/>
              </a:rPr>
              <a:t>    –  "모델은 설명 가능해졌으나 사람에게는 여전히 설명되지 않는다"</a:t>
            </a:r>
          </a:p>
          <a:p>
            <a:pPr algn="l"/>
            <a:r>
              <a:rPr sz="1500" b="1">
                <a:solidFill>
                  <a:srgbClr val="1F3A68"/>
                </a:solidFill>
                <a:ea typeface="Malgun Gothic"/>
                <a:latin typeface="Malgun Gothic"/>
              </a:rPr>
              <a:t>•  LLM의 가능성과 위험</a:t>
            </a:r>
          </a:p>
          <a:p>
            <a:pPr lvl="1" algn="l"/>
            <a:r>
              <a:rPr sz="1300" b="0">
                <a:solidFill>
                  <a:srgbClr val="555555"/>
                </a:solidFill>
                <a:ea typeface="Malgun Gothic"/>
                <a:latin typeface="Malgun Gothic"/>
              </a:rPr>
              <a:t>    –  데이터-투-텍스트 변환에 강함</a:t>
            </a:r>
          </a:p>
          <a:p>
            <a:pPr lvl="1" algn="l"/>
            <a:r>
              <a:rPr sz="1300" b="0">
                <a:solidFill>
                  <a:srgbClr val="555555"/>
                </a:solidFill>
                <a:ea typeface="Malgun Gothic"/>
                <a:latin typeface="Malgun Gothic"/>
              </a:rPr>
              <a:t>    –  그러나 환각(Hallucination) 문제 — 신용평가는 정확성·법적 책임이 중요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2. 연구 목표와 차별점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본 연구가 푸는 문제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1080000"/>
            <a:ext cx="1116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F3A68"/>
                </a:solidFill>
                <a:ea typeface="Malgun Gothic"/>
                <a:latin typeface="Malgun Gothic"/>
              </a:rPr>
              <a:t>세 가지를 동시에 달성하는 통합 파이프라인을 제안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1584000"/>
            <a:ext cx="10800000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ea typeface="Malgun Gothic"/>
                <a:latin typeface="Malgun Gothic"/>
              </a:rPr>
              <a:t>•  예측 성능: TabNet으로 트리 SOTA에 준하는 분류 성능</a:t>
            </a:r>
          </a:p>
          <a:p>
            <a:pPr algn="l"/>
            <a:r>
              <a:rPr sz="1600" b="0">
                <a:ea typeface="Malgun Gothic"/>
                <a:latin typeface="Malgun Gothic"/>
              </a:rPr>
              <a:t>•  투명한 근거: SHAP + TabNet 어텐션의 일관성 분석</a:t>
            </a:r>
          </a:p>
          <a:p>
            <a:pPr algn="l"/>
            <a:r>
              <a:rPr sz="1600" b="0">
                <a:ea typeface="Malgun Gothic"/>
                <a:latin typeface="Malgun Gothic"/>
              </a:rPr>
              <a:t>•  자연어 설명: LLM이 SHAP 사실만 받아쓰는 XAI-RAG로 환각 차단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000" y="3600000"/>
            <a:ext cx="11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F3A68"/>
                </a:solidFill>
                <a:ea typeface="Malgun Gothic"/>
                <a:latin typeface="Malgun Gothic"/>
              </a:rPr>
              <a:t>기존 연구와 본 연구의 차별점</a:t>
            </a:r>
          </a:p>
        </p:txBody>
      </p:sp>
      <p:sp>
        <p:nvSpPr>
          <p:cNvPr id="9" name="Rectangle 8"/>
          <p:cNvSpPr/>
          <p:nvPr/>
        </p:nvSpPr>
        <p:spPr>
          <a:xfrm>
            <a:off x="360000" y="4031999"/>
            <a:ext cx="2520000" cy="432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tIns="36000"/>
          <a:lstStyle/>
          <a:p>
            <a:pPr algn="ctr"/>
            <a:r>
              <a:rPr sz="1200" b="1">
                <a:solidFill>
                  <a:srgbClr val="FFFFFF"/>
                </a:solidFill>
                <a:ea typeface="Malgun Gothic"/>
                <a:latin typeface="Malgun Gothic"/>
              </a:rPr>
              <a:t>구분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80000" y="4031999"/>
            <a:ext cx="3960000" cy="432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tIns="36000"/>
          <a:lstStyle/>
          <a:p>
            <a:pPr algn="ctr"/>
            <a:r>
              <a:rPr sz="1200" b="1">
                <a:solidFill>
                  <a:srgbClr val="FFFFFF"/>
                </a:solidFill>
                <a:ea typeface="Malgun Gothic"/>
                <a:latin typeface="Malgun Gothic"/>
              </a:rPr>
              <a:t>기존 연구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40000" y="4031999"/>
            <a:ext cx="4680000" cy="432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tIns="36000"/>
          <a:lstStyle/>
          <a:p>
            <a:pPr algn="ctr"/>
            <a:r>
              <a:rPr sz="1200" b="1">
                <a:solidFill>
                  <a:srgbClr val="FFFFFF"/>
                </a:solidFill>
                <a:ea typeface="Malgun Gothic"/>
                <a:latin typeface="Malgun Gothic"/>
              </a:rPr>
              <a:t>본 연구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0000" y="4463999"/>
            <a:ext cx="2520000" cy="432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tIns="360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LLM 활용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80000" y="4463999"/>
            <a:ext cx="3960000" cy="432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tIns="360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분류기 또는 단순 변환기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40000" y="4463999"/>
            <a:ext cx="4680000" cy="432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tIns="360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XAI-RAG로 환각 차단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0000" y="4895999"/>
            <a:ext cx="2520000" cy="432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tIns="360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설명 평가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80000" y="4895999"/>
            <a:ext cx="3960000" cy="432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tIns="360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정성적 사례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40000" y="4895999"/>
            <a:ext cx="4680000" cy="432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tIns="360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Faithfulness · Hallucination · G-Eval 정량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0000" y="5327999"/>
            <a:ext cx="2520000" cy="432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tIns="360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어텐션 vs SHAP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80000" y="5327999"/>
            <a:ext cx="3960000" cy="432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tIns="360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암묵적 가정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40000" y="5327999"/>
            <a:ext cx="4680000" cy="432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tIns="360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Spearman / Top-K 정량 비교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3. 프레임워크 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정형 데이터 → 예측 → 해석 → 컨텍스트 → 자연어 설명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15847" y="1620000"/>
            <a:ext cx="2520000" cy="1620000"/>
          </a:xfrm>
          <a:prstGeom prst="roundRect">
            <a:avLst/>
          </a:prstGeom>
          <a:solidFill>
            <a:srgbClr val="4C7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ea typeface="Malgun Gothic"/>
                <a:latin typeface="Malgun Gothic"/>
              </a:rPr>
              <a:t>① 예측</a:t>
            </a:r>
          </a:p>
          <a:p>
            <a:pPr algn="ctr"/>
            <a:r>
              <a:rPr sz="1200" b="0">
                <a:solidFill>
                  <a:srgbClr val="FFFFFF"/>
                </a:solidFill>
                <a:ea typeface="Malgun Gothic"/>
                <a:latin typeface="Malgun Gothic"/>
              </a:rPr>
              <a:t>TabNet / XGBoost
P(default) 산출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053847" y="2286000"/>
            <a:ext cx="324000" cy="288000"/>
          </a:xfrm>
          <a:prstGeom prst="rightArrow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395847" y="1620000"/>
            <a:ext cx="2520000" cy="1620000"/>
          </a:xfrm>
          <a:prstGeom prst="roundRect">
            <a:avLst/>
          </a:prstGeom>
          <a:solidFill>
            <a:srgbClr val="DD88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ea typeface="Malgun Gothic"/>
                <a:latin typeface="Malgun Gothic"/>
              </a:rPr>
              <a:t>② 해석</a:t>
            </a:r>
          </a:p>
          <a:p>
            <a:pPr algn="ctr"/>
            <a:r>
              <a:rPr sz="1200" b="0">
                <a:solidFill>
                  <a:srgbClr val="FFFFFF"/>
                </a:solidFill>
                <a:ea typeface="Malgun Gothic"/>
                <a:latin typeface="Malgun Gothic"/>
              </a:rPr>
              <a:t>SHAP local +
TabNet 어텐션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933847" y="2286000"/>
            <a:ext cx="324000" cy="288000"/>
          </a:xfrm>
          <a:prstGeom prst="rightArrow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75847" y="1620000"/>
            <a:ext cx="2520000" cy="1620000"/>
          </a:xfrm>
          <a:prstGeom prst="roundRect">
            <a:avLst/>
          </a:prstGeom>
          <a:solidFill>
            <a:srgbClr val="55A8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ea typeface="Malgun Gothic"/>
                <a:latin typeface="Malgun Gothic"/>
              </a:rPr>
              <a:t>③ 컨텍스트</a:t>
            </a:r>
          </a:p>
          <a:p>
            <a:pPr algn="ctr"/>
            <a:r>
              <a:rPr sz="1200" b="0">
                <a:solidFill>
                  <a:srgbClr val="FFFFFF"/>
                </a:solidFill>
                <a:ea typeface="Malgun Gothic"/>
                <a:latin typeface="Malgun Gothic"/>
              </a:rPr>
              <a:t>JSON 사실 단위
+ 민감변수 마스킹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813847" y="2286000"/>
            <a:ext cx="324000" cy="288000"/>
          </a:xfrm>
          <a:prstGeom prst="rightArrow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155847" y="1620000"/>
            <a:ext cx="2520000" cy="1620000"/>
          </a:xfrm>
          <a:prstGeom prst="roundRect">
            <a:avLst/>
          </a:prstGeom>
          <a:solidFill>
            <a:srgbClr val="8C6B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ea typeface="Malgun Gothic"/>
                <a:latin typeface="Malgun Gothic"/>
              </a:rPr>
              <a:t>④ 생성+평가</a:t>
            </a:r>
          </a:p>
          <a:p>
            <a:pPr algn="ctr"/>
            <a:r>
              <a:rPr sz="1200" b="0">
                <a:solidFill>
                  <a:srgbClr val="FFFFFF"/>
                </a:solidFill>
                <a:ea typeface="Malgun Gothic"/>
                <a:latin typeface="Malgun Gothic"/>
              </a:rPr>
              <a:t>LLM 자연어 설명
+ Faithfulness/Halluc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0000" y="3960000"/>
            <a:ext cx="11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C44E52"/>
                </a:solidFill>
                <a:ea typeface="Malgun Gothic"/>
                <a:latin typeface="Malgun Gothic"/>
              </a:rPr>
              <a:t>핵심 — "LLM은 SHAP 사실만 자연어로 변환하는 역할에 한정"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0000" y="4500000"/>
            <a:ext cx="10080000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ea typeface="Malgun Gothic"/>
                <a:latin typeface="Malgun Gothic"/>
              </a:rPr>
              <a:t>•  환각 원천 차단: 컨텍스트에 없는 변수·수치는 절대 생성 금지</a:t>
            </a:r>
          </a:p>
          <a:p>
            <a:pPr algn="l"/>
            <a:r>
              <a:rPr sz="1400" b="0">
                <a:ea typeface="Malgun Gothic"/>
                <a:latin typeface="Malgun Gothic"/>
              </a:rPr>
              <a:t>•  민감 변수 마스킹: 성별·연령 직접 노출 금지</a:t>
            </a:r>
          </a:p>
          <a:p>
            <a:pPr algn="l"/>
            <a:r>
              <a:rPr sz="1400" b="0">
                <a:ea typeface="Malgun Gothic"/>
                <a:latin typeface="Malgun Gothic"/>
              </a:rPr>
              <a:t>•  SHAP 부호 정확 반영: 양수는 부도↑, 음수는 부도↓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4. 데이터와 EDA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Home Credit Default Risk (Kaggle) — 메인 테이블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1080000"/>
            <a:ext cx="5400000" cy="5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3A68"/>
                </a:solidFill>
                <a:ea typeface="Malgun Gothic"/>
                <a:latin typeface="Malgun Gothic"/>
              </a:rPr>
              <a:t>•  307,511 행 × 122 컬럼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TARGET 분포 8.07% (불균형)</a:t>
            </a:r>
          </a:p>
          <a:p>
            <a:pPr lvl="1" algn="l"/>
            <a:r>
              <a:rPr sz="1100" b="0">
                <a:solidFill>
                  <a:srgbClr val="555555"/>
                </a:solidFill>
                <a:ea typeface="Malgun Gothic"/>
                <a:latin typeface="Malgun Gothic"/>
              </a:rPr>
              <a:t>    –  AUROC, AUPRC, KS 위주 평가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EXT_SOURCE_2 / 3 가 단연 강한 신호</a:t>
            </a:r>
          </a:p>
          <a:p>
            <a:pPr lvl="1" algn="l"/>
            <a:r>
              <a:rPr sz="1100" b="0">
                <a:solidFill>
                  <a:srgbClr val="555555"/>
                </a:solidFill>
                <a:ea typeface="Malgun Gothic"/>
                <a:latin typeface="Malgun Gothic"/>
              </a:rPr>
              <a:t>    –  |ρ| 0.16~0.18, 다른 변수는 0.06 미만</a:t>
            </a:r>
          </a:p>
          <a:p>
            <a:pPr lvl="1" algn="l"/>
            <a:r>
              <a:rPr sz="1100" b="0">
                <a:solidFill>
                  <a:srgbClr val="555555"/>
                </a:solidFill>
                <a:ea typeface="Malgun Gothic"/>
                <a:latin typeface="Malgun Gothic"/>
              </a:rPr>
              <a:t>    –  → 비선형/상호작용이 핵심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결측 50%+ 컬럼 41개</a:t>
            </a:r>
          </a:p>
          <a:p>
            <a:pPr lvl="1" algn="l"/>
            <a:r>
              <a:rPr sz="1100" b="0">
                <a:solidFill>
                  <a:srgbClr val="555555"/>
                </a:solidFill>
                <a:ea typeface="Malgun Gothic"/>
                <a:latin typeface="Malgun Gothic"/>
              </a:rPr>
              <a:t>    –  *_MISSING_FLAG 변수 추가로 보존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DAYS_EMPLOYED 365243 sentinel (18%)</a:t>
            </a:r>
          </a:p>
          <a:p>
            <a:pPr lvl="1" algn="l"/>
            <a:r>
              <a:rPr sz="1100" b="0">
                <a:solidFill>
                  <a:srgbClr val="555555"/>
                </a:solidFill>
                <a:ea typeface="Malgun Gothic"/>
                <a:latin typeface="Malgun Gothic"/>
              </a:rPr>
              <a:t>    –  NaN + EMPLOYED_FLAG 처리</a:t>
            </a:r>
          </a:p>
          <a:p>
            <a:pPr algn="l"/>
            <a:r>
              <a:rPr sz="1300" b="1">
                <a:solidFill>
                  <a:srgbClr val="C44E52"/>
                </a:solidFill>
                <a:ea typeface="Malgun Gothic"/>
                <a:latin typeface="Malgun Gothic"/>
              </a:rPr>
              <a:t>•  공정성 신호 이미 데이터에 존재</a:t>
            </a:r>
          </a:p>
          <a:p>
            <a:pPr lvl="1" algn="l"/>
            <a:r>
              <a:rPr sz="1100" b="0">
                <a:solidFill>
                  <a:srgbClr val="555555"/>
                </a:solidFill>
                <a:ea typeface="Malgun Gothic"/>
                <a:latin typeface="Malgun Gothic"/>
              </a:rPr>
              <a:t>    –  남성 부도율 1.45배, 25세 미만 vs 65세+ 3.4배</a:t>
            </a:r>
          </a:p>
        </p:txBody>
      </p:sp>
      <p:pic>
        <p:nvPicPr>
          <p:cNvPr id="7" name="Picture 6" descr="03_protected_att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0000" y="1260000"/>
            <a:ext cx="5580000" cy="414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20000" y="5472000"/>
            <a:ext cx="558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그림. 성별·연령별 부도율 차이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5. 모델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5-fold Stratified CV — test set, mean ± std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0000" y="1152000"/>
            <a:ext cx="1152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모델</a:t>
            </a:r>
          </a:p>
        </p:txBody>
      </p:sp>
      <p:sp>
        <p:nvSpPr>
          <p:cNvPr id="7" name="Rectangle 6"/>
          <p:cNvSpPr/>
          <p:nvPr/>
        </p:nvSpPr>
        <p:spPr>
          <a:xfrm>
            <a:off x="1512000" y="1152000"/>
            <a:ext cx="162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AUROC</a:t>
            </a:r>
          </a:p>
        </p:txBody>
      </p:sp>
      <p:sp>
        <p:nvSpPr>
          <p:cNvPr id="8" name="Rectangle 7"/>
          <p:cNvSpPr/>
          <p:nvPr/>
        </p:nvSpPr>
        <p:spPr>
          <a:xfrm>
            <a:off x="3132000" y="1152000"/>
            <a:ext cx="162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AUPRC</a:t>
            </a:r>
          </a:p>
        </p:txBody>
      </p:sp>
      <p:sp>
        <p:nvSpPr>
          <p:cNvPr id="9" name="Rectangle 8"/>
          <p:cNvSpPr/>
          <p:nvPr/>
        </p:nvSpPr>
        <p:spPr>
          <a:xfrm>
            <a:off x="4752000" y="1152000"/>
            <a:ext cx="162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KS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72000" y="1152000"/>
            <a:ext cx="198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특징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0000" y="1512000"/>
            <a:ext cx="1152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XGBoost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12000" y="1512000"/>
            <a:ext cx="162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0.7587 ± 0.0008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32000" y="1512000"/>
            <a:ext cx="162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0.2445 ± 0.0011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2000" y="1512000"/>
            <a:ext cx="162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0.3846 ± 0.0015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72000" y="1512000"/>
            <a:ext cx="198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5/5 fold 1등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0000" y="1872000"/>
            <a:ext cx="1152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LightGBM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512000" y="1872000"/>
            <a:ext cx="162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0.7544 ± 0.0009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132000" y="1872000"/>
            <a:ext cx="162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0.2402 ± 0.0018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52000" y="1872000"/>
            <a:ext cx="162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0.3788 ± 0.0028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72000" y="1872000"/>
            <a:ext cx="198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가장 빠름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0000" y="2232000"/>
            <a:ext cx="1152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Logistic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512000" y="2232000"/>
            <a:ext cx="162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0.7544 ± 0.0001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32000" y="2232000"/>
            <a:ext cx="162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0.2343 ± 0.0006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52000" y="2232000"/>
            <a:ext cx="162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0.3804 ± 0.0010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72000" y="2232000"/>
            <a:ext cx="198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최고 안정성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0000" y="2592000"/>
            <a:ext cx="1152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TabNet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512000" y="2592000"/>
            <a:ext cx="162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0.7518 ± 0.0017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132000" y="2592000"/>
            <a:ext cx="162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0.2331 ± 0.0023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52000" y="2592000"/>
            <a:ext cx="162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0.3749 ± 0.0056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72000" y="2592000"/>
            <a:ext cx="198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어텐션 해석성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0000" y="3240000"/>
            <a:ext cx="11160000" cy="28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55A868"/>
                </a:solidFill>
                <a:ea typeface="Malgun Gothic"/>
                <a:latin typeface="Malgun Gothic"/>
              </a:rPr>
              <a:t>•  표준편차 0.001 안팎 — 단발 운이 아닌 안정적인 격차</a:t>
            </a:r>
          </a:p>
          <a:p>
            <a:pPr algn="l"/>
            <a:r>
              <a:rPr sz="1400" b="0">
                <a:ea typeface="Malgun Gothic"/>
                <a:latin typeface="Malgun Gothic"/>
              </a:rPr>
              <a:t>•  XGBoost가 미세하게 1등이지만 TabNet과 차이는 0.007 AUROC</a:t>
            </a:r>
          </a:p>
          <a:p>
            <a:pPr lvl="1" algn="l"/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    –  성능보다 어텐션 해석성이 본 연구의 핵심 가치</a:t>
            </a:r>
          </a:p>
          <a:p>
            <a:pPr algn="l"/>
            <a:r>
              <a:rPr sz="1400" b="1">
                <a:solidFill>
                  <a:srgbClr val="1F3A68"/>
                </a:solidFill>
                <a:ea typeface="Malgun Gothic"/>
                <a:latin typeface="Malgun Gothic"/>
              </a:rPr>
              <a:t>•  본 메시지: "TabNet은 비교 가능한 성능 + 추가 해석성"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6. SHAP과 어텐션은 같은 것을 말하는가?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RQ2 — 두 해석 방법의 일관성 정량 분석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1080000"/>
            <a:ext cx="5400000" cy="4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3A68"/>
                </a:solidFill>
                <a:ea typeface="Malgun Gothic"/>
                <a:latin typeface="Malgun Gothic"/>
              </a:rPr>
              <a:t>•  측정 방법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TabNet 어텐션 importance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SHAP global (KernelExplainer, 200 샘플)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Spearman 상관 + Top-K 교집합/Jaccard</a:t>
            </a:r>
          </a:p>
          <a:p>
            <a:pPr algn="l"/>
            <a:r>
              <a:rPr sz="1200" b="1">
                <a:solidFill>
                  <a:srgbClr val="C44E52"/>
                </a:solidFill>
                <a:ea typeface="Malgun Gothic"/>
                <a:latin typeface="Malgun Gothic"/>
              </a:rPr>
              <a:t>•  결과 — 부분 일관 + 부분 상보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Spearman ρ (전체) = 0.117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Spearman ρ (Top-50 합집합) = −0.195 (음수!)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Top-20 교집합 = 9 / 20 (Jaccard 0.29)</a:t>
            </a:r>
          </a:p>
          <a:p>
            <a:pPr algn="l"/>
            <a:r>
              <a:rPr sz="1200" b="1">
                <a:ea typeface="Malgun Gothic"/>
                <a:latin typeface="Malgun Gothic"/>
              </a:rPr>
              <a:t>•  교집합 9개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EXT_SOURCE_2/3, DAYS_EMPLOYED, ORGANIZATION_TYPE,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NAME_CONTRACT_TYPE_Revolving loans, CODE_GENDER_M 등</a:t>
            </a:r>
          </a:p>
          <a:p>
            <a:pPr algn="l"/>
            <a:r>
              <a:rPr sz="1200" b="1">
                <a:solidFill>
                  <a:srgbClr val="55A868"/>
                </a:solidFill>
                <a:ea typeface="Malgun Gothic"/>
                <a:latin typeface="Malgun Gothic"/>
              </a:rPr>
              <a:t>•  결론 — 두 방법 함께 활용해야 입체적 해석</a:t>
            </a:r>
          </a:p>
        </p:txBody>
      </p:sp>
      <p:pic>
        <p:nvPicPr>
          <p:cNvPr id="7" name="Picture 6" descr="16_attention_vs_shap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0000" y="1260000"/>
            <a:ext cx="8995113" cy="396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20000" y="5400000"/>
            <a:ext cx="540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그림. 어텐션 vs SHAP 산점도 (좌: 전체, 우: Top-20)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7. 공정성 진단 + Mitigation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DP / EO / EOdds / DI — 8개 케이스 모두 4/5 rule 위반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1080000"/>
            <a:ext cx="5400000" cy="4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3A68"/>
                </a:solidFill>
                <a:ea typeface="Malgun Gothic"/>
                <a:latin typeface="Malgun Gothic"/>
              </a:rPr>
              <a:t>•  베이스라인 (4 모델 × {GENDER, AGE} = 8건)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전부 DI &lt; 0.8 (4/5 rule 위반)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AGE DI ≈ 0.50, GENDER DI ≈ 0.62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→ 알고리즘이 아닌 데이터 차원 편향</a:t>
            </a:r>
          </a:p>
          <a:p>
            <a:pPr algn="l"/>
            <a:r>
              <a:rPr sz="1200" b="1">
                <a:solidFill>
                  <a:srgbClr val="1F3A68"/>
                </a:solidFill>
                <a:ea typeface="Malgun Gothic"/>
                <a:latin typeface="Malgun Gothic"/>
              </a:rPr>
              <a:t>•  Ablation (CODE_GENDER, DAYS_BIRTH 제거 후 재학습)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GENDER ablation: DP −36~40% 감소 효과적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AGE ablation: 거의 변화 없음 (proxy variable)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AUROC 손실 1% 미만</a:t>
            </a:r>
          </a:p>
          <a:p>
            <a:pPr algn="l"/>
            <a:r>
              <a:rPr sz="1200" b="1">
                <a:solidFill>
                  <a:srgbClr val="C44E52"/>
                </a:solidFill>
                <a:ea typeface="Malgun Gothic"/>
                <a:latin typeface="Malgun Gothic"/>
              </a:rPr>
              <a:t>•  발견 — proxy variable 문제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연령 정보가 DAYS_EMPLOYED, OWN_CAR_AGE 등에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간접 인코딩되어 단순 제거로 해결 안 됨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→ Fairness-aware 학습이 future work로 자연스럽게 도출</a:t>
            </a:r>
          </a:p>
        </p:txBody>
      </p:sp>
      <p:pic>
        <p:nvPicPr>
          <p:cNvPr id="7" name="Picture 6" descr="19_fairness_mitig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0000" y="1440000"/>
            <a:ext cx="7469901" cy="360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20000" y="5220000"/>
            <a:ext cx="540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그림. baseline vs ablated AUROC + DP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8. XAI-RAG Demo (idx 59291)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True Positive — 예측 P(default)=0.948, 결정 REJECT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1152000"/>
            <a:ext cx="111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A68"/>
                </a:solidFill>
                <a:ea typeface="Malgun Gothic"/>
                <a:latin typeface="Malgun Gothic"/>
              </a:rPr>
              <a:t>한 명의 인스턴스가 4단계 파이프라인을 통과하는 흐름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0000" y="1512000"/>
            <a:ext cx="54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2222"/>
                </a:solidFill>
                <a:ea typeface="Malgun Gothic"/>
                <a:latin typeface="Malgun Gothic"/>
              </a:rPr>
              <a:t>① SHAP Top 5 (거절 측 요인)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1800000"/>
            <a:ext cx="5220000" cy="19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2222"/>
                </a:solidFill>
                <a:ea typeface="Malgun Gothic"/>
                <a:latin typeface="Malgun Gothic"/>
              </a:rPr>
              <a:t>1. 외부 신용평가 점수 3 = 0.0633754  (SHAP +1.044)
2. 외부 신용평가 점수 2 = 0.154032  (SHAP +0.492)
3. 구매 대상 상품 가격 = 450,000  (SHAP +0.234)
4. 등록 도시와 실거주 도시 불일치 = 1  (SHAP +0.158)
5. 재직 일수(음수: 신청일 기준) = 0년 재직  (SHAP +0.139)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0000" y="1512000"/>
            <a:ext cx="54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2222"/>
                </a:solidFill>
                <a:ea typeface="Malgun Gothic"/>
                <a:latin typeface="Malgun Gothic"/>
              </a:rPr>
              <a:t>② Claude Sonnet 4.5 자연어 설명 (발췌)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92000" y="1800000"/>
            <a:ext cx="5220000" cy="39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2222"/>
                </a:solidFill>
                <a:ea typeface="Malgun Gothic"/>
                <a:latin typeface="Malgun Gothic"/>
              </a:rPr>
              <a:t>[결정 요약]
신청 결과: 대출 신청이 거절되었습니다(예측 부도 확률 94.84%, 기준 47.58%).
[주요 거절 사유]
1. 외부 신용평가 점수 3이 0.0634로 매우 낮게 평가되어 부도 가능성을 크게 높였습니다.
2. 외부 신용평가 점수 2도 0.1540으로 낮은 수준입니다.
3. 재직 일수가 0년으로 확인되어 소득 안정성 측면에서 부정적으로 작용했습니다.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0000" y="5760000"/>
            <a:ext cx="11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55A868"/>
                </a:solidFill>
                <a:ea typeface="Malgun Gothic"/>
                <a:latin typeface="Malgun Gothic"/>
              </a:rPr>
              <a:t>→ SHAP의 모든 변수·값·부호가 자연어 설명에 그대로 인용됨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9. 정량 평가 (RQ3)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Faithfulness · Hallucination · G-Eval — 두 LLM 모두에서 환각 0%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1080000"/>
            <a:ext cx="5400000" cy="4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5A868"/>
                </a:solidFill>
                <a:ea typeface="Malgun Gothic"/>
                <a:latin typeface="Malgun Gothic"/>
              </a:rPr>
              <a:t>•  Hallucination Rate = 0.000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Gemini 2.5 Flash 0.000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Claude Sonnet 4.5 0.000</a:t>
            </a:r>
          </a:p>
          <a:p>
            <a:pPr algn="l"/>
            <a:r>
              <a:rPr sz="1200" b="1">
                <a:solidFill>
                  <a:srgbClr val="1F3A68"/>
                </a:solidFill>
                <a:ea typeface="Malgun Gothic"/>
                <a:latin typeface="Malgun Gothic"/>
              </a:rPr>
              <a:t>•  G-Eval (Gemini self-judge, n=8)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factual_accuracy 5.0 / 5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sensitive_leak 5.0 / 5 (민감변수 마스킹 완벽)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style 5.0 / 5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completeness 3.4 / 5 (출력 schema 길이 제한 영향)</a:t>
            </a:r>
          </a:p>
          <a:p>
            <a:pPr algn="l"/>
            <a:r>
              <a:rPr sz="1200" b="1">
                <a:solidFill>
                  <a:srgbClr val="1F3A68"/>
                </a:solidFill>
                <a:ea typeface="Malgun Gothic"/>
                <a:latin typeface="Malgun Gothic"/>
              </a:rPr>
              <a:t>•  Faithfulness 룰 기반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val_match Claude 0.901 vs Gemini 0.811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sign_match Claude 0.867 vs Gemini 0.783</a:t>
            </a:r>
          </a:p>
          <a:p>
            <a:pPr algn="l"/>
            <a:r>
              <a:rPr sz="1200" b="1">
                <a:solidFill>
                  <a:srgbClr val="1F3A68"/>
                </a:solidFill>
                <a:ea typeface="Malgun Gothic"/>
                <a:latin typeface="Malgun Gothic"/>
              </a:rPr>
              <a:t>•  효율성 (호출당)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Claude: 8.4초 / 2,500 토큰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Gemini: 12.7초 / 4,155 토큰 (reasoning ~60%)</a:t>
            </a:r>
          </a:p>
        </p:txBody>
      </p:sp>
      <p:pic>
        <p:nvPicPr>
          <p:cNvPr id="7" name="Picture 6" descr="21_llm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0000" y="1260000"/>
            <a:ext cx="11505928" cy="396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20000" y="5400000"/>
            <a:ext cx="540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그림. Gemini vs Claude — 룰 기반 / G-Eval / 효율성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10. ★ 결정타 — SHAP이 없으면 환각이 늘어나는가?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동일 11 인스턴스 × "SHAP 컨텍스트 없는" baseline 실험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0000" y="1260000"/>
            <a:ext cx="5040000" cy="1980000"/>
          </a:xfrm>
          <a:prstGeom prst="roundRect">
            <a:avLst/>
          </a:prstGeom>
          <a:solidFill>
            <a:srgbClr val="55A8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0000" y="1440000"/>
            <a:ext cx="46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FFFFF"/>
                </a:solidFill>
                <a:ea typeface="Malgun Gothic"/>
                <a:latin typeface="Malgun Gothic"/>
              </a:rPr>
              <a:t>XAI-RAG (SHAP context)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0000" y="1908000"/>
            <a:ext cx="46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>
                <a:solidFill>
                  <a:srgbClr val="FFFFFF"/>
                </a:solidFill>
                <a:ea typeface="Malgun Gothic"/>
                <a:latin typeface="Malgun Gothic"/>
              </a:rPr>
              <a:t>0.000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000" y="2880000"/>
            <a:ext cx="46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ea typeface="Malgun Gothic"/>
                <a:latin typeface="Malgun Gothic"/>
              </a:rPr>
              <a:t>Claude Sonnet 4.5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0000" y="1260000"/>
            <a:ext cx="5040000" cy="1980000"/>
          </a:xfrm>
          <a:prstGeom prst="round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80000" y="1440000"/>
            <a:ext cx="46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FFFFF"/>
                </a:solidFill>
                <a:ea typeface="Malgun Gothic"/>
                <a:latin typeface="Malgun Gothic"/>
              </a:rPr>
              <a:t>Baseline (no SHAP)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80000" y="1908000"/>
            <a:ext cx="46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>
                <a:solidFill>
                  <a:srgbClr val="FFFFFF"/>
                </a:solidFill>
                <a:ea typeface="Malgun Gothic"/>
                <a:latin typeface="Malgun Gothic"/>
              </a:rPr>
              <a:t>45.5%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80000" y="2880000"/>
            <a:ext cx="46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ea typeface="Malgun Gothic"/>
                <a:latin typeface="Malgun Gothic"/>
              </a:rPr>
              <a:t>Claude Sonnet 4.5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0000" y="3780000"/>
            <a:ext cx="11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A68"/>
                </a:solidFill>
                <a:ea typeface="Malgun Gothic"/>
                <a:latin typeface="Malgun Gothic"/>
              </a:rPr>
              <a:t>Claude baseline 환각 사례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0000" y="4140000"/>
            <a:ext cx="10800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ea typeface="Malgun Gothic"/>
                <a:latin typeface="Malgun Gothic"/>
              </a:rPr>
              <a:t>•  DTI · LTV · DSR — Home Credit에 없는 일반 금융 비율 약어</a:t>
            </a:r>
          </a:p>
          <a:p>
            <a:pPr algn="l"/>
            <a:r>
              <a:rPr sz="1400" b="0">
                <a:ea typeface="Malgun Gothic"/>
                <a:latin typeface="Malgun Gothic"/>
              </a:rPr>
              <a:t>•  "햇살론, 미소금융" — 데이터에 없는 한국 정부 지원 상품 추천</a:t>
            </a:r>
          </a:p>
          <a:p>
            <a:pPr algn="l"/>
            <a:r>
              <a:rPr sz="1400" b="0">
                <a:ea typeface="Malgun Gothic"/>
                <a:latin typeface="Malgun Gothic"/>
              </a:rPr>
              <a:t>•  "☎ 1588-XXXX" — 가짜 고객센터 번호 생성</a:t>
            </a:r>
          </a:p>
          <a:p>
            <a:pPr algn="l"/>
            <a:r>
              <a:rPr sz="1400" b="0">
                <a:ea typeface="Malgun Gothic"/>
                <a:latin typeface="Malgun Gothic"/>
              </a:rPr>
              <a:t>•  DEF_30_CNT — 변수명 잘림 (실제 DEF_30_CNT_SOCIAL_CIRCLE)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000" y="6120000"/>
            <a:ext cx="11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C44E52"/>
                </a:solidFill>
                <a:ea typeface="Malgun Gothic"/>
                <a:latin typeface="Malgun Gothic"/>
              </a:rPr>
              <a:t>→ SHAP 컨텍스트가 LLM의 자유 추론을 직접 차단함을 입증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11. ★ Step 2-A — 100명 표본에서도 환각 0%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Step 1의 약점(표본 10명) 해소 + 통계적 안정성 입증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1152000"/>
            <a:ext cx="54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F3A68"/>
                </a:solidFill>
                <a:ea typeface="Malgun Gothic"/>
                <a:latin typeface="Malgun Gothic"/>
              </a:rPr>
              <a:t>표본 10배 확장 후 결과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0000" y="1548000"/>
            <a:ext cx="5400000" cy="2520000"/>
          </a:xfrm>
          <a:prstGeom prst="roundRect">
            <a:avLst/>
          </a:prstGeom>
          <a:solidFill>
            <a:srgbClr val="55A8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0000" y="1800000"/>
            <a:ext cx="50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ea typeface="Malgun Gothic"/>
                <a:latin typeface="Malgun Gothic"/>
              </a:rPr>
              <a:t>Hallucination 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0000" y="2232000"/>
            <a:ext cx="504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600" b="1">
                <a:solidFill>
                  <a:srgbClr val="FFFFFF"/>
                </a:solidFill>
                <a:ea typeface="Malgun Gothic"/>
                <a:latin typeface="Malgun Gothic"/>
              </a:rPr>
              <a:t>0.000 / 100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0000" y="3240000"/>
            <a:ext cx="50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ea typeface="Malgun Gothic"/>
                <a:latin typeface="Malgun Gothic"/>
              </a:rPr>
              <a:t>Gemini 100건 + Claude 100건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0000" y="3600000"/>
            <a:ext cx="50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ea typeface="Malgun Gothic"/>
                <a:latin typeface="Malgun Gothic"/>
              </a:rPr>
              <a:t>Step 1 (10건) 결과가 견고함을 통계로 입증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0000" y="1152000"/>
            <a:ext cx="54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F3A68"/>
                </a:solidFill>
                <a:ea typeface="Malgun Gothic"/>
                <a:latin typeface="Malgun Gothic"/>
              </a:rPr>
              <a:t>Cross-LLM G-Eval (self-bias 우회)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0000" y="1620000"/>
            <a:ext cx="162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Judge → Target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40000" y="1620000"/>
            <a:ext cx="126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Factual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00000" y="1620000"/>
            <a:ext cx="126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Sensitive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260000" y="1620000"/>
            <a:ext cx="126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Style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0000" y="1980000"/>
            <a:ext cx="162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Claude → Gemini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40000" y="1980000"/>
            <a:ext cx="126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4.87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00000" y="1980000"/>
            <a:ext cx="126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5.00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260000" y="1980000"/>
            <a:ext cx="126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4.97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0000" y="2340000"/>
            <a:ext cx="162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Gemini → Claude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40000" y="2340000"/>
            <a:ext cx="126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4.60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00000" y="2340000"/>
            <a:ext cx="126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5.00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260000" y="2340000"/>
            <a:ext cx="126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5.00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20000" y="3060000"/>
            <a:ext cx="5400000" cy="28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ea typeface="Malgun Gothic"/>
                <a:latin typeface="Malgun Gothic"/>
              </a:rPr>
              <a:t>•  양 LLM 모두 factual ≥ 4.6/5</a:t>
            </a:r>
          </a:p>
          <a:p>
            <a:pPr algn="l"/>
            <a:r>
              <a:rPr sz="1200" b="0">
                <a:ea typeface="Malgun Gothic"/>
                <a:latin typeface="Malgun Gothic"/>
              </a:rPr>
              <a:t>•  sensitive_leak 5.0/5 만점 (양방향)</a:t>
            </a:r>
          </a:p>
          <a:p>
            <a:pPr algn="l"/>
            <a:r>
              <a:rPr sz="1200" b="0">
                <a:ea typeface="Malgun Gothic"/>
                <a:latin typeface="Malgun Gothic"/>
              </a:rPr>
              <a:t>•  Gemini self-bias가 자기 비판 방향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12. ★ Step 2-A — Counterfactual + Robustness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LLM이 컨텍스트에 의존하는가? 프롬프트 변형에 강건한가?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1080000"/>
            <a:ext cx="54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F3A68"/>
                </a:solidFill>
                <a:ea typeface="Malgun Gothic"/>
                <a:latin typeface="Malgun Gothic"/>
              </a:rPr>
              <a:t>Counterfactual Test (top driver 1개 제거)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0000" y="1440000"/>
            <a:ext cx="54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55555"/>
                </a:solidFill>
                <a:ea typeface="Malgun Gothic"/>
                <a:latin typeface="Malgun Gothic"/>
              </a:rPr>
              <a:t>원본 vs 변경 컨텍스트 출력 비교 (n=30)</a:t>
            </a:r>
          </a:p>
        </p:txBody>
      </p:sp>
      <p:sp>
        <p:nvSpPr>
          <p:cNvPr id="8" name="Rectangle 7"/>
          <p:cNvSpPr/>
          <p:nvPr/>
        </p:nvSpPr>
        <p:spPr>
          <a:xfrm>
            <a:off x="360000" y="1800000"/>
            <a:ext cx="198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LLM</a:t>
            </a:r>
          </a:p>
        </p:txBody>
      </p:sp>
      <p:sp>
        <p:nvSpPr>
          <p:cNvPr id="9" name="Rectangle 8"/>
          <p:cNvSpPr/>
          <p:nvPr/>
        </p:nvSpPr>
        <p:spPr>
          <a:xfrm>
            <a:off x="2340000" y="1800000"/>
            <a:ext cx="180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Cosine sim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40000" y="1800000"/>
            <a:ext cx="162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ROUGE-L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0000" y="2160000"/>
            <a:ext cx="198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Claude Sonnet 4.5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340000" y="2160000"/>
            <a:ext cx="180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0.909 ± 0.069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40000" y="2160000"/>
            <a:ext cx="162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0.747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0000" y="2520000"/>
            <a:ext cx="198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Gemini 2.5 Flash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40000" y="2520000"/>
            <a:ext cx="180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0.920 ± 0.040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40000" y="2520000"/>
            <a:ext cx="162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0.750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0000" y="3060000"/>
            <a:ext cx="5400000" cy="28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ea typeface="Malgun Gothic"/>
                <a:latin typeface="Malgun Gothic"/>
              </a:rPr>
              <a:t>•  cosine 0.91 → 의미는 90% 유지</a:t>
            </a:r>
          </a:p>
          <a:p>
            <a:pPr algn="l"/>
            <a:r>
              <a:rPr sz="1200" b="0">
                <a:ea typeface="Malgun Gothic"/>
                <a:latin typeface="Malgun Gothic"/>
              </a:rPr>
              <a:t>•  ROUGE-L 0.75 → 어휘는 25% 변경</a:t>
            </a:r>
          </a:p>
          <a:p>
            <a:pPr algn="l"/>
            <a:r>
              <a:rPr sz="1200" b="0">
                <a:ea typeface="Malgun Gothic"/>
                <a:latin typeface="Malgun Gothic"/>
              </a:rPr>
              <a:t>•  → 부분 perturbation에 부분 반응 + 일관성 유지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0000" y="1080000"/>
            <a:ext cx="54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F3A68"/>
                </a:solidFill>
                <a:ea typeface="Malgun Gothic"/>
                <a:latin typeface="Malgun Gothic"/>
              </a:rPr>
              <a:t>Robustness (3 프롬프트 변형)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0000" y="1440000"/>
            <a:ext cx="54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55555"/>
                </a:solidFill>
                <a:ea typeface="Malgun Gothic"/>
                <a:latin typeface="Malgun Gothic"/>
              </a:rPr>
              <a:t>role/example/driver_shuffle (n=20)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20000" y="1800000"/>
            <a:ext cx="198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Variant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00000" y="1800000"/>
            <a:ext cx="180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Claude cosine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900000" y="1800000"/>
            <a:ext cx="162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Gemini cosine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20000" y="2160000"/>
            <a:ext cx="198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role_swap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00000" y="2160000"/>
            <a:ext cx="180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0.923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900000" y="2160000"/>
            <a:ext cx="162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0.951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20000" y="2520000"/>
            <a:ext cx="198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example_swap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00000" y="2520000"/>
            <a:ext cx="180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0.914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900000" y="2520000"/>
            <a:ext cx="162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0.908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20000" y="2880000"/>
            <a:ext cx="198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driver_shuffle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00000" y="2880000"/>
            <a:ext cx="180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0.924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900000" y="2880000"/>
            <a:ext cx="162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0.942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20000" y="3420000"/>
            <a:ext cx="5400000" cy="28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ea typeface="Malgun Gothic"/>
                <a:latin typeface="Malgun Gothic"/>
              </a:rPr>
              <a:t>•  양 LLM 모두 cosine ≥ 0.90 (목표 0.85+)</a:t>
            </a:r>
          </a:p>
          <a:p>
            <a:pPr algn="l"/>
            <a:r>
              <a:rPr sz="1200" b="0">
                <a:ea typeface="Malgun Gothic"/>
                <a:latin typeface="Malgun Gothic"/>
              </a:rPr>
              <a:t>•  Gemini가 약간 더 안정적</a:t>
            </a:r>
          </a:p>
          <a:p>
            <a:pPr algn="l"/>
            <a:r>
              <a:rPr sz="1200" b="0">
                <a:ea typeface="Malgun Gothic"/>
                <a:latin typeface="Malgun Gothic"/>
              </a:rPr>
              <a:t>•  → 운영 환경에서도 출력 일관성 기대 가능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0000" y="5940000"/>
            <a:ext cx="11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C44E52"/>
                </a:solidFill>
                <a:ea typeface="Malgun Gothic"/>
                <a:latin typeface="Malgun Gothic"/>
              </a:rPr>
              <a:t>Step 1의 핵심 메시지(환각 0%, baseline 45.5%)가 통계적으로 견고함을 입증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13. Step 3-B (보너스) — 보조 테이블 활용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발표 직전 D-5에 추가 진행한 성능 확장 (AUROC +2.22%)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27_cv_aux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00" y="1152000"/>
            <a:ext cx="6660000" cy="197232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200000" y="1152000"/>
            <a:ext cx="46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C44E52"/>
                </a:solidFill>
                <a:ea typeface="Malgun Gothic"/>
                <a:latin typeface="Malgun Gothic"/>
              </a:rPr>
              <a:t>AUROC 0.7587 → 0.7755 (+2.22%)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08000" y="1620000"/>
            <a:ext cx="4680000" cy="2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3A68"/>
                </a:solidFill>
                <a:ea typeface="Malgun Gothic"/>
                <a:latin typeface="Malgun Gothic"/>
              </a:rPr>
              <a:t>•  추가한 보조 테이블 2개</a:t>
            </a:r>
          </a:p>
          <a:p>
            <a:pPr lvl="1" algn="l"/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    –  bureau — 외부 신용기관 과거 대출 이력</a:t>
            </a:r>
          </a:p>
          <a:p>
            <a:pPr lvl="1" algn="l"/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    –  previous_application — Home Credit 자체 신청 이력</a:t>
            </a:r>
          </a:p>
          <a:p>
            <a:pPr algn="l"/>
            <a:r>
              <a:rPr sz="1100" b="1">
                <a:solidFill>
                  <a:srgbClr val="1F3A68"/>
                </a:solidFill>
                <a:ea typeface="Malgun Gothic"/>
                <a:latin typeface="Malgun Gothic"/>
              </a:rPr>
              <a:t>•  5-fold CV 결과 (test set)</a:t>
            </a:r>
          </a:p>
          <a:p>
            <a:pPr lvl="1" algn="l"/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    –  AUROC +0.0168 (baseline std의 21배)</a:t>
            </a:r>
          </a:p>
          <a:p>
            <a:pPr lvl="1" algn="l"/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    –  AUPRC +8.21%, KS +7.81% — 불균형 분류력 강화</a:t>
            </a:r>
          </a:p>
          <a:p>
            <a:pPr algn="l"/>
            <a:r>
              <a:rPr sz="1100" b="1">
                <a:solidFill>
                  <a:srgbClr val="1F3A68"/>
                </a:solidFill>
                <a:ea typeface="Malgun Gothic"/>
                <a:latin typeface="Malgun Gothic"/>
              </a:rPr>
              <a:t>•  SHAP top 20 변화</a:t>
            </a:r>
          </a:p>
          <a:p>
            <a:pPr lvl="1" algn="l"/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    –  PREV_* feature 5개 신규 진입 (rank 12, 13, 14, 16, 20)</a:t>
            </a:r>
          </a:p>
          <a:p>
            <a:pPr lvl="1" algn="l"/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    –  최고 신호: 이전 거절 비율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0000" y="5580000"/>
            <a:ext cx="1152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A868"/>
                </a:solidFill>
                <a:ea typeface="Malgun Gothic"/>
                <a:latin typeface="Malgun Gothic"/>
              </a:rPr>
              <a:t>★ 발견 — 외부 신용기관(bureau) feature는 top 20 진입 못함
  → main 테이블의 EXT_SOURCE_1/2/3에 외부 신용 정보가 응축돼 있을 가능성 (future work에서 ablation으로 검증)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14. 종합 — 본 연구의 가치 3가지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Step 1 + Step 2-A + Step 3-B 마무리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05847" y="1260000"/>
            <a:ext cx="3420000" cy="3060000"/>
          </a:xfrm>
          <a:prstGeom prst="roundRect">
            <a:avLst/>
          </a:prstGeom>
          <a:solidFill>
            <a:srgbClr val="4C7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0" rIns="216000" tIns="216000"/>
          <a:lstStyle/>
          <a:p>
            <a:pPr algn="ctr"/>
            <a:r>
              <a:rPr sz="2200" b="1">
                <a:solidFill>
                  <a:srgbClr val="FFFFFF"/>
                </a:solidFill>
                <a:ea typeface="Malgun Gothic"/>
                <a:latin typeface="Malgun Gothic"/>
              </a:rPr>
              <a:t>예측 성능</a:t>
            </a:r>
          </a:p>
          <a:p>
            <a:pPr algn="ctr"/>
            <a:r>
              <a:rPr sz="1200" b="0">
                <a:solidFill>
                  <a:srgbClr val="FFFFFF"/>
                </a:solidFill>
                <a:ea typeface="Malgun Gothic"/>
                <a:latin typeface="Malgun Gothic"/>
              </a:rPr>
              <a:t>
XGBoost AUROC 0.7587 ± 0.0008
5-fold 안정적 우위
TabNet 0.7518 — 비슷한 성능 +
어텐션 해석성 추가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5847" y="1260000"/>
            <a:ext cx="3420000" cy="3060000"/>
          </a:xfrm>
          <a:prstGeom prst="roundRect">
            <a:avLst/>
          </a:prstGeom>
          <a:solidFill>
            <a:srgbClr val="55A8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0" rIns="216000" tIns="216000"/>
          <a:lstStyle/>
          <a:p>
            <a:pPr algn="ctr"/>
            <a:r>
              <a:rPr sz="2200" b="1">
                <a:solidFill>
                  <a:srgbClr val="FFFFFF"/>
                </a:solidFill>
                <a:ea typeface="Malgun Gothic"/>
                <a:latin typeface="Malgun Gothic"/>
              </a:rPr>
              <a:t>해석 일관성</a:t>
            </a:r>
          </a:p>
          <a:p>
            <a:pPr algn="ctr"/>
            <a:r>
              <a:rPr sz="1200" b="0">
                <a:solidFill>
                  <a:srgbClr val="FFFFFF"/>
                </a:solidFill>
                <a:ea typeface="Malgun Gothic"/>
                <a:latin typeface="Malgun Gothic"/>
              </a:rPr>
              <a:t>
Spearman ρ 0.117 (전체)
−0.195 (Top-50)
어텐션 ↔ SHAP의
부분 일관 + 부분 상보 정량 검증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65847" y="1260000"/>
            <a:ext cx="3420000" cy="3060000"/>
          </a:xfrm>
          <a:prstGeom prst="round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0" rIns="216000" tIns="216000"/>
          <a:lstStyle/>
          <a:p>
            <a:pPr algn="ctr"/>
            <a:r>
              <a:rPr sz="2200" b="1">
                <a:solidFill>
                  <a:srgbClr val="FFFFFF"/>
                </a:solidFill>
                <a:ea typeface="Malgun Gothic"/>
                <a:latin typeface="Malgun Gothic"/>
              </a:rPr>
              <a:t>환각 차단</a:t>
            </a:r>
          </a:p>
          <a:p>
            <a:pPr algn="ctr"/>
            <a:r>
              <a:rPr sz="1200" b="0">
                <a:solidFill>
                  <a:srgbClr val="FFFFFF"/>
                </a:solidFill>
                <a:ea typeface="Malgun Gothic"/>
                <a:latin typeface="Malgun Gothic"/>
              </a:rPr>
              <a:t>
Hallucination Rate 0.000
(두 LLM 모두)
Baseline 45.5% vs XAI-RAG 0%
→ SHAP 컨텍스트의 직접 효과 입증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0000" y="4680000"/>
            <a:ext cx="1116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3A68"/>
                </a:solidFill>
                <a:ea typeface="Malgun Gothic"/>
                <a:latin typeface="Malgun Gothic"/>
              </a:rPr>
              <a:t>한 줄 메시지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000" y="5220000"/>
            <a:ext cx="1116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222222"/>
                </a:solidFill>
                <a:ea typeface="Malgun Gothic"/>
                <a:latin typeface="Malgun Gothic"/>
              </a:rPr>
              <a:t>"SHAP 컨텍스트를 LLM의 검색된 근거로 재정의하면,
LLM 종속성 없이 환각이 0이 되는 자연어 설명을 생성할 수 있다."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15. 한계와 향후 계획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Step 3-B 일부 진행 / 잔여는 본 논문 확장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1080000"/>
            <a:ext cx="54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C44E52"/>
                </a:solidFill>
                <a:ea typeface="Malgun Gothic"/>
                <a:latin typeface="Malgun Gothic"/>
              </a:rPr>
              <a:t>현재 한계 / 진행 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1440000"/>
            <a:ext cx="5400000" cy="4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ea typeface="Malgun Gothic"/>
                <a:latin typeface="Malgun Gothic"/>
              </a:rPr>
              <a:t>•  평가 표본 100명 (Step 2-A 확장 완료) — 500명+ 추가 검토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보조 테이블 2/6개 활용 (Step 3-B) — 4개 잔여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Bureau의 SHAP 미진입 — EXT_SOURCE 응축 가설 검증 필요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G-Eval self-bias — Cross-LLM(Step 2-A)으로 부분 우회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TabNet/LightGBM에 aux 효과 일반화 미실시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Fairness-aware 학습 미수행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0000" y="1080000"/>
            <a:ext cx="54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55A868"/>
                </a:solidFill>
                <a:ea typeface="Malgun Gothic"/>
                <a:latin typeface="Malgun Gothic"/>
              </a:rPr>
              <a:t>향후 계획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0000" y="1440000"/>
            <a:ext cx="5400000" cy="4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ea typeface="Malgun Gothic"/>
                <a:latin typeface="Malgun Gothic"/>
              </a:rPr>
              <a:t>•  잔여 보조 테이블 4개로 AUROC 0.78+ 추가 향상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Bureau ablation — EXT_SOURCE와 정보 중복도 정량화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Fairness-aware 학습 (Reweighing, Adversarial Debiasing)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TabNet/LightGBM 재학습으로 aux 효과 일반화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FT-Transformer 비교 모델 추가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인간 평가 (Plausibility) — 5점 척도, Cohen's κ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한국어 도메인 특화 LLM QLoRA 미세조정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2520000"/>
            <a:ext cx="1134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400" b="1">
                <a:solidFill>
                  <a:srgbClr val="FFFFFF"/>
                </a:solidFill>
                <a:ea typeface="Malgun Gothic"/>
                <a:latin typeface="Malgun Gothic"/>
              </a:rPr>
              <a:t>감사합니다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3960000"/>
            <a:ext cx="1134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>
                <a:solidFill>
                  <a:srgbClr val="CCDDEE"/>
                </a:solidFill>
                <a:ea typeface="Malgun Gothic"/>
                <a:latin typeface="Malgun Gothic"/>
              </a:rPr>
              <a:t>Q &amp;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4860000"/>
            <a:ext cx="113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CCDDEE"/>
                </a:solidFill>
                <a:ea typeface="Malgun Gothic"/>
                <a:latin typeface="Malgun Gothic"/>
              </a:rPr>
              <a:t>GitHub: https://github.com/Tim-Green0/tabnet-xai-rag-credit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
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260000"/>
            <a:ext cx="1008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68"/>
                </a:solidFill>
                <a:ea typeface="Malgun Gothic"/>
                <a:latin typeface="Malgun Gothic"/>
              </a:rPr>
              <a:t>정형 데이터 특화 딥러닝(TabNet)과
거대언어모델(LLM) 기반 XAI-RAG를 활용한
설명 가능한 신용 평가 및 사용자 맞춤형 리포트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88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55555"/>
                </a:solidFill>
                <a:ea typeface="Malgun Gothic"/>
                <a:latin typeface="Malgun Gothic"/>
              </a:rPr>
              <a:t>— 어텐션-SHAP 융합 컨텍스트와 다중 평가 프레임워크 적용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96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44E52"/>
                </a:solidFill>
                <a:ea typeface="Malgun Gothic"/>
                <a:latin typeface="Malgun Gothic"/>
              </a:rPr>
              <a:t>석사 학위논문 초안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486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ea typeface="Malgun Gothic"/>
                <a:latin typeface="Malgun Gothic"/>
              </a:rPr>
              <a:t>데이터사이언스 · 인공지능 전공
학번 A70067  |  오현택
지도교수: 박운상
서강대학교 AI · SW대학원  |  2026년 6월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목 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0000" y="1260000"/>
            <a:ext cx="648000" cy="648000"/>
          </a:xfrm>
          <a:prstGeom prst="ellipse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Malgun Gothic"/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0000" y="126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  <a:ea typeface="Malgun Gothic"/>
                <a:latin typeface="Malgun Gothic"/>
              </a:rPr>
              <a:t>1부. 도입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0000" y="1620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연구 배경 · 문제 제기 · 연구 질문 · 기여</a:t>
            </a:r>
          </a:p>
        </p:txBody>
      </p:sp>
      <p:sp>
        <p:nvSpPr>
          <p:cNvPr id="9" name="Oval 8"/>
          <p:cNvSpPr/>
          <p:nvPr/>
        </p:nvSpPr>
        <p:spPr>
          <a:xfrm>
            <a:off x="720000" y="2448000"/>
            <a:ext cx="648000" cy="648000"/>
          </a:xfrm>
          <a:prstGeom prst="ellipse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Malgun Gothic"/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0000" y="2448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  <a:ea typeface="Malgun Gothic"/>
                <a:latin typeface="Malgun Gothic"/>
              </a:rPr>
              <a:t>2부. 연구 방법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808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시스템 구조 · 데이터 · 예측·해석 · Fusion · LLM-RAG · 평가</a:t>
            </a:r>
          </a:p>
        </p:txBody>
      </p:sp>
      <p:sp>
        <p:nvSpPr>
          <p:cNvPr id="12" name="Oval 11"/>
          <p:cNvSpPr/>
          <p:nvPr/>
        </p:nvSpPr>
        <p:spPr>
          <a:xfrm>
            <a:off x="720000" y="3636000"/>
            <a:ext cx="648000" cy="648000"/>
          </a:xfrm>
          <a:prstGeom prst="ellipse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Malgun Gothic"/>
                <a:latin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0000" y="3636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  <a:ea typeface="Malgun Gothic"/>
                <a:latin typeface="Malgun Gothic"/>
              </a:rPr>
              <a:t>3부. 분석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996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예측 성능 · 해석 일관성 · 4-mode 비교 · Persona · 공정성 · 일반화</a:t>
            </a:r>
          </a:p>
        </p:txBody>
      </p:sp>
      <p:sp>
        <p:nvSpPr>
          <p:cNvPr id="15" name="Oval 14"/>
          <p:cNvSpPr/>
          <p:nvPr/>
        </p:nvSpPr>
        <p:spPr>
          <a:xfrm>
            <a:off x="720000" y="4823999"/>
            <a:ext cx="648000" cy="648000"/>
          </a:xfrm>
          <a:prstGeom prst="ellipse">
            <a:avLst/>
          </a:prstGeom>
          <a:solidFill>
            <a:srgbClr val="8C6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  <a:ea typeface="Malgun Gothic"/>
                <a:latin typeface="Malgun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0000" y="4823999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8"/>
                </a:solidFill>
                <a:ea typeface="Malgun Gothic"/>
                <a:latin typeface="Malgun Gothic"/>
              </a:rPr>
              <a:t>4부. 결론 및 시사점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5183999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55555"/>
                </a:solidFill>
                <a:ea typeface="Malgun Gothic"/>
                <a:latin typeface="Malgun Gothic"/>
              </a:rPr>
              <a:t>핵심 발견 · 한계 · 응용 가이드 · 향후 연구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1. 연구 배경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신용 평가에 "설명 가능한 자연어"가 필요한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•  신용 평가 자동화와 블랙박스 문제</a:t>
            </a:r>
          </a:p>
          <a:p>
            <a:pPr lvl="1" algn="l"/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    –  XGBoost·LightGBM·TabNet — 부도 예측 성능을 크게 끌어올림</a:t>
            </a:r>
          </a:p>
          <a:p>
            <a:pPr lvl="1" algn="l"/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    –  그러나 내부 의사결정이 직관적이지 않은 "블랙박스" 특성</a:t>
            </a:r>
          </a:p>
          <a:p>
            <a:pPr algn="l"/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•  제도적·윤리적 설명 책임</a:t>
            </a:r>
          </a:p>
          <a:p>
            <a:pPr lvl="1" algn="l"/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    –  EU GDPR 제22조 — 자동화된 의사결정에 대한 설명 받을 권리</a:t>
            </a:r>
          </a:p>
          <a:p>
            <a:pPr lvl="1" algn="l"/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    –  금융위·금감원 「금융 분야 AI 가이드라인」 (2021) — 명시적 설명 의무</a:t>
            </a:r>
          </a:p>
          <a:p>
            <a:pPr lvl="1" algn="l"/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    –  성별·연령 기반 잠재적 편향 → 차별 가능성</a:t>
            </a:r>
          </a:p>
          <a:p>
            <a:pPr algn="l"/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•  기존 XAI(SHAP·LIME)의 한계</a:t>
            </a:r>
          </a:p>
          <a:p>
            <a:pPr lvl="1" algn="l"/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    –  변수 중요도 그래프·기여도 수치 → 전문가 외엔 해석 어려움</a:t>
            </a:r>
          </a:p>
          <a:p>
            <a:pPr lvl="1" algn="l"/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    –  "모델은 설명 가능해졌으나 사람에게는 여전히 설명되지 않는다"</a:t>
            </a:r>
          </a:p>
          <a:p>
            <a:pPr algn="l"/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•  LLM-RAG의 가능성과 위험</a:t>
            </a:r>
          </a:p>
          <a:p>
            <a:pPr lvl="1" algn="l"/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    –  데이터-투-텍스트 변환에 강함, RAG로 사실성 보강 가능</a:t>
            </a:r>
          </a:p>
          <a:p>
            <a:pPr lvl="1" algn="l"/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    –  그러나 환각(Hallucination) 문제 — 신용평가는 정확성과 법적 책임이 중요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2. 문제 제기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기존 연구의 5가지 학술적 공백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224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44E52"/>
                </a:solidFill>
                <a:ea typeface="Malgun Gothic"/>
                <a:latin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1224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TabNet 어텐션 활용 부재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548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TabNet은 주로 단독 예측 모델로만 사용 — 어텐션 마스크와 SHAP를 결합한 사례 거의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160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44E52"/>
                </a:solidFill>
                <a:ea typeface="Malgun Gothic"/>
                <a:latin typeface="Malgun Gothic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000" y="2160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LLM 환각 차단의 차별성 검증 부재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484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단순 hard constraint만으로 환각 차단 가능 — SHAP 기반 RAG의 추가 가치는?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3096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44E52"/>
                </a:solidFill>
                <a:ea typeface="Malgun Gothic"/>
                <a:latin typeface="Malgun Gothic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6000" y="3096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공정성 보정의 신용평가 통합 부재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342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Reweighing 등 정식 mitigation을 모델 성능 손실 최소화로 통합 적용한 사례 부족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4032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44E52"/>
                </a:solidFill>
                <a:ea typeface="Malgun Gothic"/>
                <a:latin typeface="Malgun Gothic"/>
              </a:rPr>
              <a:t>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6000" y="4032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단일 데이터셋의 일반화 한계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4356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선행 연구 대부분 단일 데이터셋에서만 평가 — 데이터셋 의존성 / 일반 패턴 구별 어려움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4968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44E52"/>
                </a:solidFill>
                <a:ea typeface="Malgun Gothic"/>
                <a:latin typeface="Malgun Gothic"/>
              </a:rPr>
              <a:t>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000" y="4968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이해관계자별 평가 부재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" y="5292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신용 전문가·고객·규제기관 등 페르소나 관점의 다중 평가 프레임워크 미정립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3. 연구 질문 (RQ) 및 기여 (C)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4 개의 연구 질문, 5 개의 학술적 기여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연구 질문 (Research Questions)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55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•  RQ1. SHAP × TabNet 어텐션 동의 기반 융합 컨텍스트가 LLM 자연어 설명의 사실 기반 충실성을 향상시키는가?</a:t>
            </a:r>
          </a:p>
          <a:p>
            <a:pPr algn="l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•  RQ2. Hard constraint만으로 환각 차단이 충분한 상황에서, Fusion 컨텍스트의 차별적 가치는?</a:t>
            </a:r>
          </a:p>
          <a:p>
            <a:pPr algn="l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•  RQ3. Reweighing 기반 사전처리 공정성 보정이 성능 손실 없이 4/5 규칙을 통과시키는가?</a:t>
            </a:r>
          </a:p>
          <a:p>
            <a:pPr algn="l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•  RQ4. Fusion 메커니즘이 다른 데이터셋(UCI German)에도 일관 작동하며 Persona별 trade-off는?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152000"/>
            <a:ext cx="54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55A868"/>
                </a:solidFill>
                <a:ea typeface="Malgun Gothic"/>
                <a:latin typeface="Malgun Gothic"/>
              </a:rPr>
              <a:t>본 연구의 기여 (Contributions)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440000"/>
            <a:ext cx="558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•  C1. Agreement-aware Fusion Context 신규 설계 (agreed · shap_only · attention_only)</a:t>
            </a:r>
          </a:p>
          <a:p>
            <a:pPr algn="l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•  C2. 4-tier 다중 평가 프레임워크 구축 (Rules + NLI + Cross-Judge G-Eval + Persona Pilot)</a:t>
            </a:r>
          </a:p>
          <a:p>
            <a:pPr algn="l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•  C3. 4-mode 비교를 통한 차별성 입증 — 환각 차단 ≠ fact-grounded 정확성</a:t>
            </a:r>
          </a:p>
          <a:p>
            <a:pPr algn="l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•  C4. 두 데이터셋(Home Credit, UCI German) 일반화 검증</a:t>
            </a:r>
          </a:p>
          <a:p>
            <a:pPr algn="l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•  C5. Reweighing 공정성 보정 — 4/4 조합 모두 4/5 규칙 통과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4. 시스템 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4 단계 파이프라인 — 예측 → 해석 → 융합 → 자연어 + 평가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2_thesi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630" y="1152000"/>
            <a:ext cx="6730435" cy="360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0000" y="5580000"/>
            <a:ext cx="10620000" cy="54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★ 본 연구 핵심: ③ Agreement-aware Fusion Context — 두 해석 정보의 동의 여부 자체를 LLM 프롬프트 신호로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5. 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Home Credit (메인) + UCI German Credit (일반화 검증)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1224000"/>
            <a:ext cx="234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000" y="1224000"/>
            <a:ext cx="450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Home Credit Default 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80000" y="1224000"/>
            <a:ext cx="414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UCI German Credit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84000"/>
            <a:ext cx="234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출처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0" y="1584000"/>
            <a:ext cx="450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Kaggle Competition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80000" y="1584000"/>
            <a:ext cx="414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UCI ML Repository (1994)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1944000"/>
            <a:ext cx="234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관측치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000" y="1944000"/>
            <a:ext cx="450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307,511 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0000" y="1944000"/>
            <a:ext cx="414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1,000 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304000"/>
            <a:ext cx="234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원본 변수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0" y="2304000"/>
            <a:ext cx="450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122 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80000" y="2304000"/>
            <a:ext cx="414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21 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2664000"/>
            <a:ext cx="234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전처리 후 변수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000" y="2664000"/>
            <a:ext cx="450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214 개 (one-hot + flag)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0000" y="2664000"/>
            <a:ext cx="414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63 개 (one-hot + flag)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3024000"/>
            <a:ext cx="234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타깃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000" y="3024000"/>
            <a:ext cx="450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TARGET (부도 여부)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80000" y="3024000"/>
            <a:ext cx="414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credit-risk (good / bad)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3384000"/>
            <a:ext cx="234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부도율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000" y="3384000"/>
            <a:ext cx="450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약 8.07 %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80000" y="3384000"/>
            <a:ext cx="414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30.0 %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3744000"/>
            <a:ext cx="234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분할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000" y="3744000"/>
            <a:ext cx="450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60 / 20 / 20 stratified (SEED=42)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80000" y="3744000"/>
            <a:ext cx="414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60 / 20 / 20 stratified (SEED=42)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0000" y="4104000"/>
            <a:ext cx="234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보호 속성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80000" y="4104000"/>
            <a:ext cx="450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CODE_GENDER, DAYS_BIRTH(연령)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80000" y="4104000"/>
            <a:ext cx="414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personal_status(성), age, foreign_worker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0000" y="5580000"/>
            <a:ext cx="10620000" cy="5400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두 데이터셋 — 동일 파이프라인 이식으로 메커니즘 일반화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6. 예측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XGBoost (메인) + TabNet (보조 + 어텐션 추출)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68"/>
                </a:solidFill>
                <a:ea typeface="Malgun Gothic"/>
                <a:latin typeface="Malgun Gothic"/>
              </a:rPr>
              <a:t>5-fold Stratified CV 성능 (Test set, mean ± std)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270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0" y="1620000"/>
            <a:ext cx="288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AUROC (Home)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620000"/>
            <a:ext cx="288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AUROC (German)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0000" y="1620000"/>
            <a:ext cx="252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비고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980000"/>
            <a:ext cx="270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Logistic Regression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0" y="1980000"/>
            <a:ext cx="288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0.7475 ± 0.0011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1980000"/>
            <a:ext cx="288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0.7969 ± 0.0289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0" y="1980000"/>
            <a:ext cx="252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전통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340000"/>
            <a:ext cx="270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LightGBM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0" y="2340000"/>
            <a:ext cx="288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0.7574 ± 0.0009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2340000"/>
            <a:ext cx="288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0.7656 ± 0.0312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0" y="2340000"/>
            <a:ext cx="25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그래디언트 부스팅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2700000"/>
            <a:ext cx="270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XGBoost (메인)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0" y="2700000"/>
            <a:ext cx="288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0.7587 ± 0.0008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2700000"/>
            <a:ext cx="288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0.7714 ± 0.0298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0000" y="2700000"/>
            <a:ext cx="252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본 연구 예측기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3060000"/>
            <a:ext cx="270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TabNet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0" y="3060000"/>
            <a:ext cx="288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0.7543 ± 0.0019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3060000"/>
            <a:ext cx="288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0.7501 ± 0.0367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000" y="3060000"/>
            <a:ext cx="25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어텐션 추출용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396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68"/>
                </a:solidFill>
                <a:ea typeface="Malgun Gothic"/>
                <a:latin typeface="Malgun Gothic"/>
              </a:rPr>
              <a:t>보조 테이블 추가 효과 (Home Credit)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0000" y="4392000"/>
            <a:ext cx="270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00" y="4392000"/>
            <a:ext cx="270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0000" y="4392000"/>
            <a:ext cx="306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+ Bureau + PrevApp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4392000"/>
            <a:ext cx="252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개선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000" y="4752000"/>
            <a:ext cx="270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AUROC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0000" y="4752000"/>
            <a:ext cx="270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0.7587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0000" y="4752000"/>
            <a:ext cx="306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0.7755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4752000"/>
            <a:ext cx="252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+2.22 %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5112000"/>
            <a:ext cx="270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AUPRC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0000" y="5112000"/>
            <a:ext cx="270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0.2401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0000" y="5112000"/>
            <a:ext cx="306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0.2598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0000" y="5112000"/>
            <a:ext cx="25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+8.21 %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0000" y="5472000"/>
            <a:ext cx="270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KS 통계량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0000" y="5472000"/>
            <a:ext cx="270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0.4054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0000" y="5472000"/>
            <a:ext cx="306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0.4371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0000" y="5472000"/>
            <a:ext cx="252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+7.81 %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7. 모델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SHAP local 기여도 + TabNet 어텐션 마스크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8"/>
                </a:solidFill>
                <a:ea typeface="Malgun Gothic"/>
                <a:latin typeface="Malgun Gothic"/>
              </a:rPr>
              <a:t>SHAP (TreeSHAP)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512000"/>
            <a:ext cx="55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ea typeface="Malgun Gothic"/>
                <a:latin typeface="Malgun Gothic"/>
              </a:rPr>
              <a:t>•  변수의 부도 확률 기여도 (방향 + 크기)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전체 변수에 대한 dense 기여도 — 풍부한 정보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XGBoost 3.x base_score 파싱 버그 — _XgbNativeExplainer 우회 적용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Top-K 부호 + 크기 정보를 LLM 프롬프트에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152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C44E52"/>
                </a:solidFill>
                <a:ea typeface="Malgun Gothic"/>
                <a:latin typeface="Malgun Gothic"/>
              </a:rPr>
              <a:t>TabNet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512000"/>
            <a:ext cx="558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ea typeface="Malgun Gothic"/>
                <a:latin typeface="Malgun Gothic"/>
              </a:rPr>
              <a:t>•  Sparsemax 기반 변수 선택 — sparse 마스크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인스턴스마다 다른 변수를 선택 (decision step 별)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방향 정보 없음 — "무엇을 봤는가"만 표현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SHAP과 다른 관점의 해석 정보 제공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5400000"/>
            <a:ext cx="10620000" cy="7200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두 정보는 본질적으로 다른 해석 관점
(전체 dense 기여 vs sparse 변수 선택) — 융합이 정보 보완을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8. ★ Agreement-aware Fusion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본 연구의 핵심 — 동의 여부 자체를 LLM 신호로 활용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68"/>
                </a:solidFill>
                <a:ea typeface="Malgun Gothic"/>
                <a:latin typeface="Malgun Gothic"/>
              </a:rPr>
              <a:t>SHAP Top-K ∩ TabNet Attention Top-K → 3 그룹 분해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847" y="1548000"/>
            <a:ext cx="3600000" cy="252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4000" tIns="144000" rIns="144000"/>
          <a:lstStyle/>
          <a:p>
            <a:pPr algn="ctr"/>
            <a:r>
              <a:rPr sz="1800" b="1">
                <a:solidFill>
                  <a:srgbClr val="FFFFFF"/>
                </a:solidFill>
                <a:ea typeface="Malgun Gothic"/>
                <a:latin typeface="Malgun Gothic"/>
              </a:rPr>
              <a:t>agreed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
양 모델이 모두 선택한 변수
(두 해석이 동의)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→ 가장 신뢰할 수 있는 신호로 LLM에 전달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5847" y="1548000"/>
            <a:ext cx="3600000" cy="2520000"/>
          </a:xfrm>
          <a:prstGeom prst="round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4000" tIns="144000" rIns="144000"/>
          <a:lstStyle/>
          <a:p>
            <a:pPr algn="ctr"/>
            <a:r>
              <a:rPr sz="1800" b="1">
                <a:solidFill>
                  <a:srgbClr val="FFFFFF"/>
                </a:solidFill>
                <a:ea typeface="Malgun Gothic"/>
                <a:latin typeface="Malgun Gothic"/>
              </a:rPr>
              <a:t>shap_only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
SHAP만 선택한 변수
(부호+크기 정보 있음)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→ 강한 dense 기여도 — 보조 신호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5847" y="1548000"/>
            <a:ext cx="3600000" cy="2520000"/>
          </a:xfrm>
          <a:prstGeom prst="roundRect">
            <a:avLst/>
          </a:prstGeom>
          <a:solidFill>
            <a:srgbClr val="DD8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4000" tIns="144000" rIns="144000"/>
          <a:lstStyle/>
          <a:p>
            <a:pPr algn="ctr"/>
            <a:r>
              <a:rPr sz="1800" b="1">
                <a:solidFill>
                  <a:srgbClr val="FFFFFF"/>
                </a:solidFill>
                <a:ea typeface="Malgun Gothic"/>
                <a:latin typeface="Malgun Gothic"/>
              </a:rPr>
              <a:t>attention_only</a:t>
            </a:r>
          </a:p>
          <a:p>
            <a:pPr algn="ctr"/>
            <a:r>
              <a:rPr sz="1200" b="0">
                <a:solidFill>
                  <a:srgbClr val="FFFFFF"/>
                </a:solidFill>
                <a:ea typeface="Malgun Gothic"/>
                <a:latin typeface="Malgun Gothic"/>
              </a:rPr>
              <a:t>
TabNet attention만 선택한 변수
(sparse 선택)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→ "모델이 본 변수" — 추가 컨텍스트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500000"/>
            <a:ext cx="10620000" cy="7200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ea typeface="Malgun Gothic"/>
                <a:latin typeface="Malgun Gothic"/>
              </a:rPr>
              <a:t>Agreement 통계 (n=100, Home): mean(agreed)=2.12, n_agreed 분포 0~3 — 4+ 동의 0 %
보호 속성(GENDER, DAYS_BIRTH 등) JSON 단계에서 마스킹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9. LLM-RAG 4-Mode 비교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Fusion의 차별성을 정량 입증하기 위한 ablation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5847" y="1368000"/>
            <a:ext cx="2628000" cy="216000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8000" tIns="108000"/>
          <a:lstStyle/>
          <a:p>
            <a:pPr algn="ctr"/>
            <a:r>
              <a:rPr sz="1600" b="1">
                <a:solidFill>
                  <a:srgbClr val="FFFFFF"/>
                </a:solidFill>
                <a:ea typeface="Malgun Gothic"/>
                <a:latin typeface="Malgun Gothic"/>
              </a:rPr>
              <a:t>no_shap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원시 변수만
(SHAP/RAG 없음)</a:t>
            </a:r>
          </a:p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
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9847" y="1368000"/>
            <a:ext cx="2628000" cy="2160000"/>
          </a:xfrm>
          <a:prstGeom prst="round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8000" tIns="108000"/>
          <a:lstStyle/>
          <a:p>
            <a:pPr algn="ctr"/>
            <a:r>
              <a:rPr sz="1600" b="1">
                <a:solidFill>
                  <a:srgbClr val="FFFFFF"/>
                </a:solidFill>
                <a:ea typeface="Malgun Gothic"/>
                <a:latin typeface="Malgun Gothic"/>
              </a:rPr>
              <a:t>generic_rag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원시 변수 + 7개 도메인 chunks
(SHAP 없음)</a:t>
            </a:r>
          </a:p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
RAG ablation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3847" y="1368000"/>
            <a:ext cx="2628000" cy="2160000"/>
          </a:xfrm>
          <a:prstGeom prst="roundRect">
            <a:avLst/>
          </a:prstGeom>
          <a:solidFill>
            <a:srgbClr val="DD8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8000" tIns="108000"/>
          <a:lstStyle/>
          <a:p>
            <a:pPr algn="ctr"/>
            <a:r>
              <a:rPr sz="1600" b="1">
                <a:solidFill>
                  <a:srgbClr val="FFFFFF"/>
                </a:solidFill>
                <a:ea typeface="Malgun Gothic"/>
                <a:latin typeface="Malgun Gothic"/>
              </a:rPr>
              <a:t>shaponly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SHAP top-5만
(attention 없음)</a:t>
            </a:r>
          </a:p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
SHAP-only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7847" y="1368000"/>
            <a:ext cx="2628000" cy="216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8000" tIns="108000"/>
          <a:lstStyle/>
          <a:p>
            <a:pPr algn="ctr"/>
            <a:r>
              <a:rPr sz="1600" b="1">
                <a:solidFill>
                  <a:srgbClr val="FFFFFF"/>
                </a:solidFill>
                <a:ea typeface="Malgun Gothic"/>
                <a:latin typeface="Malgun Gothic"/>
              </a:rPr>
              <a:t>fusion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SHAP + Attention
동의 기반 융합 ★</a:t>
            </a:r>
          </a:p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
★ 본 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378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68"/>
                </a:solidFill>
                <a:ea typeface="Malgun Gothic"/>
                <a:latin typeface="Malgun Gothic"/>
              </a:rPr>
              <a:t>공통 Hard Constraints 5 항목 (모든 mode 적용)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4068000"/>
            <a:ext cx="11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ea typeface="Malgun Gothic"/>
                <a:latin typeface="Malgun Gothic"/>
              </a:rPr>
              <a:t>•  컨텍스트에 없는 변수명 생성 금지 (환각 차단)</a:t>
            </a:r>
          </a:p>
          <a:p>
            <a:pPr algn="l"/>
            <a:r>
              <a:rPr sz="1200" b="0">
                <a:ea typeface="Malgun Gothic"/>
                <a:latin typeface="Malgun Gothic"/>
              </a:rPr>
              <a:t>•  민감 속성(성별·연령) 언급 금지 — 마스킹된 컨텍스트만 사용</a:t>
            </a:r>
          </a:p>
          <a:p>
            <a:pPr algn="l"/>
            <a:r>
              <a:rPr sz="1200" b="0">
                <a:ea typeface="Malgun Gothic"/>
                <a:latin typeface="Malgun Gothic"/>
              </a:rPr>
              <a:t>•  값(value) 정확 인용 강제 — 임의 추정 금지</a:t>
            </a:r>
          </a:p>
          <a:p>
            <a:pPr algn="l"/>
            <a:r>
              <a:rPr sz="1200" b="0">
                <a:ea typeface="Malgun Gothic"/>
                <a:latin typeface="Malgun Gothic"/>
              </a:rPr>
              <a:t>•  5-section 출력 형식 (위험도·핵심 근거·세부 분석·추천·요약)</a:t>
            </a:r>
          </a:p>
          <a:p>
            <a:pPr algn="l"/>
            <a:r>
              <a:rPr sz="1200" b="0">
                <a:ea typeface="Malgun Gothic"/>
                <a:latin typeface="Malgun Gothic"/>
              </a:rPr>
              <a:t>•  LLM 비교: Anthropic Claude Sonnet 4.5 + Google Gemini 2.5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10. 4-tier 평가 + 공정성 보정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Rules + NLI + G-Eval + Persona + Reweighing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5847" y="1368000"/>
            <a:ext cx="2628000" cy="1980000"/>
          </a:xfrm>
          <a:prstGeom prst="round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8000" tIns="108000"/>
          <a:lstStyle/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Tier 1</a:t>
            </a:r>
          </a:p>
          <a:p>
            <a:pPr algn="ctr"/>
            <a:r>
              <a:rPr sz="1600" b="1">
                <a:solidFill>
                  <a:srgbClr val="FFFFFF"/>
                </a:solidFill>
                <a:ea typeface="Malgun Gothic"/>
                <a:latin typeface="Malgun Gothic"/>
              </a:rPr>
              <a:t>룰 기반 평가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변수·값·부호 토큰 매칭
Hallucination Rate (strict/broad)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9847" y="1368000"/>
            <a:ext cx="2628000" cy="1980000"/>
          </a:xfrm>
          <a:prstGeom prst="roundRect">
            <a:avLst/>
          </a:prstGeom>
          <a:solidFill>
            <a:srgbClr val="DD8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8000" tIns="108000"/>
          <a:lstStyle/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Tier 2</a:t>
            </a:r>
          </a:p>
          <a:p>
            <a:pPr algn="ctr"/>
            <a:r>
              <a:rPr sz="1600" b="1">
                <a:solidFill>
                  <a:srgbClr val="FFFFFF"/>
                </a:solidFill>
                <a:ea typeface="Malgun Gothic"/>
                <a:latin typeface="Malgun Gothic"/>
              </a:rPr>
              <a:t>NLI 기반 함의도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mDeBERTa-v3 다국어 NLI
Entailment / Contradiction 측정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3847" y="1368000"/>
            <a:ext cx="2628000" cy="198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8000" tIns="108000"/>
          <a:lstStyle/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Tier 3</a:t>
            </a:r>
          </a:p>
          <a:p>
            <a:pPr algn="ctr"/>
            <a:r>
              <a:rPr sz="1600" b="1">
                <a:solidFill>
                  <a:srgbClr val="FFFFFF"/>
                </a:solidFill>
                <a:ea typeface="Malgun Gothic"/>
                <a:latin typeface="Malgun Gothic"/>
              </a:rPr>
              <a:t>Cross-Judge G-Eval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Claude × Gemini 양방향 평가자
4 차원 (factual/completeness/sensitive/style)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7847" y="1368000"/>
            <a:ext cx="2628000" cy="1980000"/>
          </a:xfrm>
          <a:prstGeom prst="roundRect">
            <a:avLst/>
          </a:prstGeom>
          <a:solidFill>
            <a:srgbClr val="8C6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8000" tIns="108000"/>
          <a:lstStyle/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Tier 4</a:t>
            </a:r>
          </a:p>
          <a:p>
            <a:pPr algn="ctr"/>
            <a:r>
              <a:rPr sz="1600" b="1">
                <a:solidFill>
                  <a:srgbClr val="FFFFFF"/>
                </a:solidFill>
                <a:ea typeface="Malgun Gothic"/>
                <a:latin typeface="Malgun Gothic"/>
              </a:rPr>
              <a:t>Persona Pilot</a:t>
            </a:r>
          </a:p>
          <a:p>
            <a:pPr algn="ctr"/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
3 페르소나 (Expert/Customer/Regulator)
3 metrics × 5 점 척도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378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68"/>
                </a:solidFill>
                <a:ea typeface="Malgun Gothic"/>
                <a:latin typeface="Malgun Gothic"/>
              </a:rPr>
              <a:t>공정성 보정 — Kamiran-Calders Reweighing (pre-processing)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4068000"/>
            <a:ext cx="111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ea typeface="Malgun Gothic"/>
                <a:latin typeface="Malgun Gothic"/>
              </a:rPr>
              <a:t>•  보호 속성: CODE_GENDER, DAYS_BIRTH(AGE), personal_status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정량 지표: Demographic Parity, Equal Opportunity, Disparate Impact (4/5 rule)</a:t>
            </a:r>
          </a:p>
          <a:p>
            <a:pPr algn="l"/>
            <a:r>
              <a:rPr sz="1300" b="0">
                <a:ea typeface="Malgun Gothic"/>
                <a:latin typeface="Malgun Gothic"/>
              </a:rPr>
              <a:t>•  비교 대상: Fairlearn ExpGrad (DP / EO) — DP는 AUROC 큰 손실, EO는 안티 패턴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11. 예측 성능 — 신용평가 산업 벤치마크 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AUROC 0.76 = 실무 수준 (Lessmann et al. 2015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신용평가 도메인 AUROC 분류 기준 (Lessmann et al., 2015)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512000"/>
            <a:ext cx="252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AUROC 구간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0000" y="1512000"/>
            <a:ext cx="396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도메인 평가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512000"/>
            <a:ext cx="4680000" cy="360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실무 의미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" y="1872000"/>
            <a:ext cx="252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≥ 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60000" y="1872000"/>
            <a:ext cx="396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최상위 — 거의 보지 못함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20000" y="1872000"/>
            <a:ext cx="468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데이터 누수 또는 비현실적 가정 의심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2232000"/>
            <a:ext cx="25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0.80 ~ 0.85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0000" y="2232000"/>
            <a:ext cx="396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상위 — 가장 좋은 모델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20000" y="2232000"/>
            <a:ext cx="468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특수 도메인 / 풍부한 데이터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592000"/>
            <a:ext cx="252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0.70 ~ 0.80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0000" y="2592000"/>
            <a:ext cx="396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Mainstream — 실무 표준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20000" y="2592000"/>
            <a:ext cx="468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★ 본 연구 (0.7587, 0.7714)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2952000"/>
            <a:ext cx="252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0.60 ~ 0.70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0000" y="2952000"/>
            <a:ext cx="396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Borderline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20000" y="2952000"/>
            <a:ext cx="4680000" cy="360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도입 가능하지만 신중 검토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3312000"/>
            <a:ext cx="252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&lt; 0.60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60000" y="3312000"/>
            <a:ext cx="396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Below standard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3312000"/>
            <a:ext cx="4680000" cy="360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재학습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0000" y="4140000"/>
            <a:ext cx="10620000" cy="9000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본 연구 메시지: 예측 정확도 갱신이 아니라 통합 시스템 구축
Baseline AUROC 0.76 (mainstream)을 honest 보고 → Fusion 차별성은 NLI Entailment 0.625 + Value Match 0.88에서 정량 입증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12. SHAP × Attention 일관성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두 해석 정보의 부분 일관 + 부분 상보 — Fusion 정당성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6_attention_vs_sha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594" y="1260000"/>
            <a:ext cx="7768507" cy="342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0000" y="4860000"/>
            <a:ext cx="5580000" cy="12600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Home Credit (n=214)
Spearman ρ (full) = 0.117
Top-50 overlap ρ = -0.195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4860000"/>
            <a:ext cx="5580000" cy="126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UCI German (n=63)
Spearman ρ (full) = 0.114
→ 두 데이터셋 거의 동일 일관성 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13. 환각률 0 % 결과 + Hard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모든 4-mode × 2 LLM × 데이터셋에서 환각 0건 — 그 메커니즘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68"/>
                </a:solidFill>
                <a:ea typeface="Malgun Gothic"/>
                <a:latin typeface="Malgun Gothic"/>
              </a:rPr>
              <a:t>(1) 환각률 측정 결과 (300 호출, 양 데이터셋)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512000"/>
            <a:ext cx="2340000" cy="34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00000" y="1512000"/>
            <a:ext cx="1620000" cy="34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0" y="1512000"/>
            <a:ext cx="1620000" cy="34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German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854000"/>
            <a:ext cx="234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no_shap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0000" y="1854000"/>
            <a:ext cx="162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 / 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0" y="1854000"/>
            <a:ext cx="162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 / 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2196000"/>
            <a:ext cx="234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generic_rag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0000" y="2196000"/>
            <a:ext cx="162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 / 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2196000"/>
            <a:ext cx="162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 /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2538000"/>
            <a:ext cx="234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shaponly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538000"/>
            <a:ext cx="162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 / 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0" y="2538000"/>
            <a:ext cx="162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 / 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2880000"/>
            <a:ext cx="234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fusion 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0000" y="2880000"/>
            <a:ext cx="162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 / 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2880000"/>
            <a:ext cx="162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200" b="0">
                <a:solidFill>
                  <a:srgbClr val="222222"/>
                </a:solidFill>
                <a:ea typeface="Malgun Gothic"/>
                <a:latin typeface="Malgun Gothic"/>
              </a:rPr>
              <a:t>0 / 60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3600000"/>
            <a:ext cx="5580000" cy="900000"/>
          </a:xfrm>
          <a:prstGeom prst="round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★ 모든 mode에서 0 %
→ Fusion의 차별성 근거가 아님
  단순 hard constraint만으로 충분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0000" y="1152000"/>
            <a:ext cx="55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68"/>
                </a:solidFill>
                <a:ea typeface="Malgun Gothic"/>
                <a:latin typeface="Malgun Gothic"/>
              </a:rPr>
              <a:t>(2) 0 % 달성 메커니즘 — Hard Constraints 5항목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1440000"/>
            <a:ext cx="558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ea typeface="Malgun Gothic"/>
                <a:latin typeface="Malgun Gothic"/>
              </a:rPr>
              <a:t>•  컨텍스트에 없는 변수명 생성 금지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LLM 출력의 영문 토큰 = 입력 변수 집합 ⊆</a:t>
            </a:r>
          </a:p>
          <a:p>
            <a:pPr algn="l"/>
            <a:r>
              <a:rPr sz="1100" b="1">
                <a:solidFill>
                  <a:srgbClr val="222222"/>
                </a:solidFill>
                <a:ea typeface="Malgun Gothic"/>
                <a:latin typeface="Malgun Gothic"/>
              </a:rPr>
              <a:t>•  민감 속성 언급 금지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성별·연령 등 마스킹된 컨텍스트만 사용</a:t>
            </a:r>
          </a:p>
          <a:p>
            <a:pPr algn="l"/>
            <a:r>
              <a:rPr sz="1100" b="1">
                <a:solidFill>
                  <a:srgbClr val="222222"/>
                </a:solidFill>
                <a:ea typeface="Malgun Gothic"/>
                <a:latin typeface="Malgun Gothic"/>
              </a:rPr>
              <a:t>•  값(value) 정확 인용 강제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임의 추정·반올림·생략 금지</a:t>
            </a:r>
          </a:p>
          <a:p>
            <a:pPr algn="l"/>
            <a:r>
              <a:rPr sz="1100" b="1">
                <a:solidFill>
                  <a:srgbClr val="222222"/>
                </a:solidFill>
                <a:ea typeface="Malgun Gothic"/>
                <a:latin typeface="Malgun Gothic"/>
              </a:rPr>
              <a:t>•  5-section 출력 형식 고정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위험도·핵심 근거·세부 분석·추천·요약</a:t>
            </a:r>
          </a:p>
          <a:p>
            <a:pPr algn="l"/>
            <a:r>
              <a:rPr sz="1100" b="1">
                <a:solidFill>
                  <a:srgbClr val="222222"/>
                </a:solidFill>
                <a:ea typeface="Malgun Gothic"/>
                <a:latin typeface="Malgun Gothic"/>
              </a:rPr>
              <a:t>•  컨텍스트 외 외부 데이터 인용 금지</a:t>
            </a:r>
          </a:p>
          <a:p>
            <a:pPr lvl="1" algn="l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    –  LLM 내부 지식만으로 변수·값 생성 금지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5580000"/>
            <a:ext cx="11340000" cy="5400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→ 다음 슬라이드: 환각률 0 %의 정확한 의미 — 3 가지 정확도 차원 분리 + Counterfactual 대비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14. 환각률 0 %의 정확한 의미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세 가지 정확도 차원 분리 + Counterfactual 45.5 % → 0 % 대비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52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본 시스템의 3 가지 정확도 차원 — 환각률 0 %는 차원 B만 보장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512000"/>
            <a:ext cx="2520000" cy="503999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차원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0" y="1512000"/>
            <a:ext cx="3240000" cy="503999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측정 대상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0" y="1512000"/>
            <a:ext cx="2520000" cy="503999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측정 도구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0000" y="1512000"/>
            <a:ext cx="3060000" cy="503999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본 연구 결과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000" y="2015999"/>
            <a:ext cx="2520000" cy="503999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A. 부도 예측 정확도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0" y="2015999"/>
            <a:ext cx="3240000" cy="503999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XGBoost가 실제 부도/정상 맞춤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0000" y="2015999"/>
            <a:ext cx="2520000" cy="503999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AUROC · AUPRC · 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0000" y="2015999"/>
            <a:ext cx="3060000" cy="503999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0.7587 (Home) / 0.7714 (German)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2519998"/>
            <a:ext cx="2520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B. LLM 변수명 환각률 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0" y="2519998"/>
            <a:ext cx="3240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LLM이 없는 변수명 생성 비율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2519998"/>
            <a:ext cx="2520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룰 기반 영문 토큰 매칭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0000" y="2519998"/>
            <a:ext cx="3060000" cy="503999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★ 0 % (모든 mode)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3023997"/>
            <a:ext cx="2520000" cy="503999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C. LLM 의미적 충실성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0" y="3023997"/>
            <a:ext cx="3240000" cy="503999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설명과 컨텍스트의 의미 일치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3023997"/>
            <a:ext cx="2520000" cy="503999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NLI Entailment (mDeBERTa)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40000" y="3023997"/>
            <a:ext cx="3060000" cy="503999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fusion 0.625 / no_shap 0.30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00" y="3888000"/>
            <a:ext cx="5580000" cy="126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✓ 0 %가 보장하는 것
LLM이 출력에 등장시킨 변수 토큰이 모두 입력 컨텍스트 또는 데이터셋 변수 집합에 존재한다는 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0000" y="3888000"/>
            <a:ext cx="5580000" cy="1260000"/>
          </a:xfrm>
          <a:prstGeom prst="round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✗ 0 %가 보장하지 않는 것
① 부도 예측이 실제와 일치 (차원 A) ② 값을 100 % 정확히 인용 (Value Match) ③ 설명 의미가 입력과 100 % 일치 (차원 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" y="5400000"/>
            <a:ext cx="11340000" cy="7200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200" b="1">
                <a:solidFill>
                  <a:srgbClr val="FFFFFF"/>
                </a:solidFill>
                <a:ea typeface="Malgun Gothic"/>
                <a:latin typeface="Malgun Gothic"/>
              </a:rPr>
              <a:t>★ Counterfactual 검증 (§4.3.6) — Hard Constraint 제거 시 Gemini 환각률 45.5 % → 적용 후 0 %
즉 0 %는 무에서 나온 결과가 아니라 45.5 %를 차단한 정량 효과 — Hard Constraint 정책의 견고함 입증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15. ★ NLI Entailment 4-mode 단조증가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Fusion 일관 1위 — 두 데이터셋에서 동일 패턴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88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68"/>
                </a:solidFill>
                <a:ea typeface="Malgun Gothic"/>
                <a:latin typeface="Malgun Gothic"/>
              </a:rPr>
              <a:t>NLI Entailment Rate (mDeBERTa-v3 multilingual)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548000"/>
            <a:ext cx="2520000" cy="39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ea typeface="Malgun Gothic"/>
                <a:latin typeface="Malgun Gothic"/>
              </a:rPr>
              <a:t>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0000" y="1548000"/>
            <a:ext cx="3240000" cy="39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ea typeface="Malgun Gothic"/>
                <a:latin typeface="Malgun Gothic"/>
              </a:rPr>
              <a:t>Home Credit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0" y="1548000"/>
            <a:ext cx="3240000" cy="39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ea typeface="Malgun Gothic"/>
                <a:latin typeface="Malgun Gothic"/>
              </a:rPr>
              <a:t>UCI German Credit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40000" y="1548000"/>
            <a:ext cx="2340000" cy="39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1">
                <a:solidFill>
                  <a:srgbClr val="FFFFFF"/>
                </a:solidFill>
                <a:ea typeface="Malgun Gothic"/>
                <a:latin typeface="Malgun Gothic"/>
              </a:rPr>
              <a:t>Value Match Rate (Home)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944000"/>
            <a:ext cx="2520000" cy="39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no_shap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0000" y="1944000"/>
            <a:ext cx="3240000" cy="39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0.350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944000"/>
            <a:ext cx="3240000" cy="39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0.393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40000" y="1944000"/>
            <a:ext cx="2340000" cy="39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0.59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340000"/>
            <a:ext cx="252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generic_rag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0000" y="2340000"/>
            <a:ext cx="324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0.367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2340000"/>
            <a:ext cx="324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0.410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40000" y="2340000"/>
            <a:ext cx="234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0.73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2736000"/>
            <a:ext cx="2520000" cy="39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shaponly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0000" y="2736000"/>
            <a:ext cx="3240000" cy="39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0.461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000" y="2736000"/>
            <a:ext cx="3240000" cy="39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0.628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40000" y="2736000"/>
            <a:ext cx="2340000" cy="39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0.85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3132000"/>
            <a:ext cx="252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fusion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0000" y="3132000"/>
            <a:ext cx="324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0.625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0000" y="3132000"/>
            <a:ext cx="324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0.711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40000" y="3132000"/>
            <a:ext cx="2340000" cy="39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300" b="0">
                <a:solidFill>
                  <a:srgbClr val="222222"/>
                </a:solidFill>
                <a:ea typeface="Malgun Gothic"/>
                <a:latin typeface="Malgun Gothic"/>
              </a:rPr>
              <a:t>0.90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000" y="4140000"/>
            <a:ext cx="5580000" cy="108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단조증가 패턴 일관 ★
no_shap &lt; generic_rag &lt; shaponly &lt; fusion
→ 양 데이터셋 모두 동일 순서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0000" y="4140000"/>
            <a:ext cx="5580000" cy="10800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Value Match 0.59 → 0.90 (Home)
→ Fusion이 컨텍스트 값을 가장 정확히 인용
fact-grounded faithfulness 정량 입증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16. G-Eval Cross-judge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Claude × Gemini 양방향 평가 — Completeness 일관, Factual은 judge bias 입증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2_cross_judge_g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658" y="1188000"/>
            <a:ext cx="4468378" cy="3420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0000" y="4752000"/>
            <a:ext cx="5580000" cy="1368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ea typeface="Malgun Gothic"/>
                <a:latin typeface="Malgun Gothic"/>
              </a:rPr>
              <a:t>Completeness — 양 judge 일관 양수
Fusion +0.67 (Claude judge) ~ +1.10 (Gemini judge)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4752000"/>
            <a:ext cx="5580000" cy="1368000"/>
          </a:xfrm>
          <a:prstGeom prst="roundRect">
            <a:avLst/>
          </a:prstGeom>
          <a:solidFill>
            <a:srgbClr val="C44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72000" bIns="72000"/>
          <a:lstStyle/>
          <a:p>
            <a:pPr algn="ctr"/>
            <a:r>
              <a:rPr sz="1300" b="1">
                <a:solidFill>
                  <a:srgbClr val="FFFFFF"/>
                </a:solidFill>
                <a:ea typeface="Malgun Gothic"/>
                <a:latin typeface="Malgun Gothic"/>
              </a:rPr>
              <a:t>Factual Gemini target 차이 0.60 ★
Claude judge -0.13 vs Gemini judge +0.47
→ Self-preference bias 직접 입증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17. ★ Persona Trade-off — Honest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사실성 = fusion, 친근함 = generic_rag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6_human_proxy_perso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107" y="1152000"/>
            <a:ext cx="3469481" cy="30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4320000"/>
            <a:ext cx="111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8"/>
                </a:solidFill>
                <a:ea typeface="Malgun Gothic"/>
                <a:latin typeface="Malgun Gothic"/>
              </a:rPr>
              <a:t>Persona × Mode 1위 정리 (5점 만점)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4680000"/>
            <a:ext cx="3240000" cy="324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평가 차원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0000" y="4680000"/>
            <a:ext cx="2520000" cy="324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1 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4680000"/>
            <a:ext cx="2520000" cy="324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2 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0000" y="4680000"/>
            <a:ext cx="3060000" cy="324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★ 비고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5004000"/>
            <a:ext cx="324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사실성 (NLI)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0000" y="5004000"/>
            <a:ext cx="252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fusion 0.625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000" y="5004000"/>
            <a:ext cx="252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shaponly 0.461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0000" y="5004000"/>
            <a:ext cx="306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본 연구 강점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5328000"/>
            <a:ext cx="324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충실성 (G-Eval)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80000" y="5328000"/>
            <a:ext cx="252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fusion 4.82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5328000"/>
            <a:ext cx="252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generic_rag 4.48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0000" y="5328000"/>
            <a:ext cx="306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Home 기준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5652000"/>
            <a:ext cx="324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사람 친근성 (Persona trust)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80000" y="5652000"/>
            <a:ext cx="252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generic_rag 4.91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0000" y="5652000"/>
            <a:ext cx="252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fusion 4.31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0000" y="5652000"/>
            <a:ext cx="306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Fusion 2 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5976000"/>
            <a:ext cx="324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Customer clarity 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80000" y="5976000"/>
            <a:ext cx="252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generic_rag 4.93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000" y="5976000"/>
            <a:ext cx="252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fusion 2.67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20000" y="5976000"/>
            <a:ext cx="306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Fusion 약점 — honest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18. 공정성 Reweighing — 4 / 4 조합 통과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AUROC 손실 0.004 이내, 4/5 규칙 모두 통과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4_mitigation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358" y="1188000"/>
            <a:ext cx="3160978" cy="306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0000" y="4392000"/>
            <a:ext cx="3240000" cy="324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조합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0" y="4392000"/>
            <a:ext cx="1800000" cy="324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Before DI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0" y="4392000"/>
            <a:ext cx="1800000" cy="324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After DI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0000" y="4392000"/>
            <a:ext cx="2160000" cy="324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AUROC 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20000" y="4392000"/>
            <a:ext cx="1800000" cy="324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4/5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4716000"/>
            <a:ext cx="324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GENDER ×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0" y="4716000"/>
            <a:ext cx="180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0" y="4716000"/>
            <a:ext cx="180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60000" y="4716000"/>
            <a:ext cx="216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−0.003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20000" y="4716000"/>
            <a:ext cx="180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✓ 통과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5040000"/>
            <a:ext cx="324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GENDER × Aux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0000" y="5040000"/>
            <a:ext cx="180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0.64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000" y="5040000"/>
            <a:ext cx="180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0.87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0000" y="5040000"/>
            <a:ext cx="216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+0.003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20000" y="5040000"/>
            <a:ext cx="180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✓ 통과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5364000"/>
            <a:ext cx="324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AGE ×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60000" y="5364000"/>
            <a:ext cx="180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0.56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000" y="5364000"/>
            <a:ext cx="180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60000" y="5364000"/>
            <a:ext cx="216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−0.003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20000" y="5364000"/>
            <a:ext cx="1800000" cy="324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✓ 통과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5688000"/>
            <a:ext cx="324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AGE × Aux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0000" y="5688000"/>
            <a:ext cx="180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0.57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5688000"/>
            <a:ext cx="180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0.83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60000" y="5688000"/>
            <a:ext cx="216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+0.003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20000" y="5688000"/>
            <a:ext cx="1800000" cy="324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✓ 통과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19. 일반화 검증 — Home Credit vs UCI German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메커니즘 일관성 입증 — 약점 #5 해소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1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935" y="1152000"/>
            <a:ext cx="4235824" cy="306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0000" y="4320000"/>
            <a:ext cx="2700000" cy="30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지표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0" y="4320000"/>
            <a:ext cx="2160000" cy="30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Home Credit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0" y="4320000"/>
            <a:ext cx="2520000" cy="30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UCI German Credit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0" y="4320000"/>
            <a:ext cx="3420000" cy="30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결과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626000"/>
            <a:ext cx="270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AUROC (XGBoost 5-fold)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0" y="4626000"/>
            <a:ext cx="216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0.7587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0" y="4626000"/>
            <a:ext cx="252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0.7714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0" y="4626000"/>
            <a:ext cx="342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일관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4932000"/>
            <a:ext cx="270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SHAP × Attention 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0" y="4932000"/>
            <a:ext cx="216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0.117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0" y="4932000"/>
            <a:ext cx="252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0.114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0000" y="4932000"/>
            <a:ext cx="342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거의 동일 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0000" y="5238000"/>
            <a:ext cx="270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NLI Entailment fusion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0" y="5238000"/>
            <a:ext cx="216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0.625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0" y="5238000"/>
            <a:ext cx="252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0.711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0000" y="5238000"/>
            <a:ext cx="342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German에서 더 강함 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5544000"/>
            <a:ext cx="270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환각률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0" y="5544000"/>
            <a:ext cx="216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00000" y="5544000"/>
            <a:ext cx="252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0 %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5544000"/>
            <a:ext cx="342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Hard constraints 견고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5850000"/>
            <a:ext cx="270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G-Eval Completeness 1 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0000" y="5850000"/>
            <a:ext cx="216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fusion (4.82)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0" y="5850000"/>
            <a:ext cx="252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generic_rag (4.58)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20000" y="5850000"/>
            <a:ext cx="3420000" cy="306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데이터 복잡도 의존 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20. 정량 결과 종합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본 연구가 학술적으로 입증한 모든 핵심 수치 — 한 눈에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68"/>
                </a:solidFill>
                <a:ea typeface="Malgun Gothic"/>
                <a:latin typeface="Malgun Gothic"/>
              </a:rPr>
              <a:t>9 개 영역 × 양 데이터셋 정량 결과 종합표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404000"/>
            <a:ext cx="1800000" cy="34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ea typeface="Malgun Gothic"/>
                <a:latin typeface="Malgun Gothic"/>
              </a:rPr>
              <a:t>영역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0" y="1404000"/>
            <a:ext cx="2520000" cy="34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ea typeface="Malgun Gothic"/>
                <a:latin typeface="Malgun Gothic"/>
              </a:rPr>
              <a:t>지표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0000" y="1404000"/>
            <a:ext cx="2088000" cy="34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ea typeface="Malgun Gothic"/>
                <a:latin typeface="Malgun Gothic"/>
              </a:rPr>
              <a:t>Home Credit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8000" y="1404000"/>
            <a:ext cx="2088000" cy="34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ea typeface="Malgun Gothic"/>
                <a:latin typeface="Malgun Gothic"/>
              </a:rPr>
              <a:t>UCI German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56000" y="1404000"/>
            <a:ext cx="2880000" cy="342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1">
                <a:solidFill>
                  <a:srgbClr val="FFFFFF"/>
                </a:solidFill>
                <a:ea typeface="Malgun Gothic"/>
                <a:latin typeface="Malgun Gothic"/>
              </a:rPr>
              <a:t>결과 해석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746000"/>
            <a:ext cx="180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예측 성능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0000" y="1746000"/>
            <a:ext cx="252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XGBoost AUROC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0" y="1746000"/>
            <a:ext cx="2088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0.7587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8000" y="1746000"/>
            <a:ext cx="2088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0.7714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6000" y="1746000"/>
            <a:ext cx="288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Mainstream 표준 (0.70~0.80)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000" y="2088000"/>
            <a:ext cx="180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해석 일관성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0000" y="2088000"/>
            <a:ext cx="252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SHAP × Attn 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0000" y="2088000"/>
            <a:ext cx="2088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0.117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8000" y="2088000"/>
            <a:ext cx="2088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0.114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6000" y="2088000"/>
            <a:ext cx="288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거의 동일 — 메커니즘 일반화 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2430000"/>
            <a:ext cx="180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환각률 (차원 B)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60000" y="2430000"/>
            <a:ext cx="252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LLM 변수명 환각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2430000"/>
            <a:ext cx="2088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 / 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8000" y="2430000"/>
            <a:ext cx="2088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 / 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56000" y="2430000"/>
            <a:ext cx="288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Hard Constraints 견고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000" y="2772000"/>
            <a:ext cx="180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사실성 (차원 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60000" y="2772000"/>
            <a:ext cx="252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NLI Entailment (fusion)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80000" y="2772000"/>
            <a:ext cx="2088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0.625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8000" y="2772000"/>
            <a:ext cx="2088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0.711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56000" y="2772000"/>
            <a:ext cx="288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4-mode 1 위 / 단조증가 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000" y="3114000"/>
            <a:ext cx="180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값 정확성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60000" y="3114000"/>
            <a:ext cx="252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Value Match (fusion)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0000" y="3114000"/>
            <a:ext cx="2088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0.90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8000" y="3114000"/>
            <a:ext cx="2088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0.88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56000" y="3114000"/>
            <a:ext cx="288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4-mode 1 위 (0.59 → 0.90)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0000" y="3456000"/>
            <a:ext cx="180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충실성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60000" y="3456000"/>
            <a:ext cx="252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G-Eval Completeness 1 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80000" y="3456000"/>
            <a:ext cx="2088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fusion 4.82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8000" y="3456000"/>
            <a:ext cx="2088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generic_rag 4.58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56000" y="3456000"/>
            <a:ext cx="288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데이터 복잡도 의존 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0000" y="3798000"/>
            <a:ext cx="180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사람 친화성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0000" y="3798000"/>
            <a:ext cx="252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Persona Trust 1 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80000" y="3798000"/>
            <a:ext cx="2088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generic_rag 4.91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8000" y="3798000"/>
            <a:ext cx="2088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56000" y="3798000"/>
            <a:ext cx="288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fusion 2 위 (4.31) — Trade-off 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0000" y="4140000"/>
            <a:ext cx="180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공정성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60000" y="4140000"/>
            <a:ext cx="252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DI ratio (Reweighing)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80000" y="4140000"/>
            <a:ext cx="2088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0.62 → 0.90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8000" y="4140000"/>
            <a:ext cx="2088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856000" y="4140000"/>
            <a:ext cx="2880000" cy="34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4/4 통과, AUROC Δ ±0.003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0000" y="4482000"/>
            <a:ext cx="180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일반화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60000" y="4482000"/>
            <a:ext cx="252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양 데이터셋 일관성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80000" y="4482000"/>
            <a:ext cx="2088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기준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8000" y="4482000"/>
            <a:ext cx="2088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메커니즘 일관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56000" y="4482000"/>
            <a:ext cx="2880000" cy="34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000" b="0">
                <a:solidFill>
                  <a:srgbClr val="222222"/>
                </a:solidFill>
                <a:ea typeface="Malgun Gothic"/>
                <a:latin typeface="Malgun Gothic"/>
              </a:rPr>
              <a:t>★ 본 연구 contribution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21. 본 연구의 5 가지 학술적 기여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각 기여를 정량 결과로 입증 — 도입 RQ(슬라이드 5)에 대한 답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111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68"/>
                </a:solidFill>
                <a:ea typeface="Malgun Gothic"/>
                <a:latin typeface="Malgun Gothic"/>
              </a:rPr>
              <a:t>C1 ~ C5 기여 정리 + 정량 입증 근거 매핑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404000"/>
            <a:ext cx="720000" cy="39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기여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0000" y="1404000"/>
            <a:ext cx="5400000" cy="39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0" y="1404000"/>
            <a:ext cx="5220000" cy="396000"/>
          </a:xfrm>
          <a:prstGeom prst="rect">
            <a:avLst/>
          </a:prstGeom>
          <a:solidFill>
            <a:srgbClr val="1F3A6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1">
                <a:solidFill>
                  <a:srgbClr val="FFFFFF"/>
                </a:solidFill>
                <a:ea typeface="Malgun Gothic"/>
                <a:latin typeface="Malgun Gothic"/>
              </a:rPr>
              <a:t>정량 입증 근거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00" y="1800000"/>
            <a:ext cx="720000" cy="79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C1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0000" y="1800000"/>
            <a:ext cx="5400000" cy="79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Agreement-aware Fusion Context 신규 설계
(agreed · shap_only · attention_only 3 그룹 분해)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80000" y="1800000"/>
            <a:ext cx="5220000" cy="79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SHAP × Attn ρ 0.117 / 0.114 (보완성)
Agreement mean = 2.12 (n=100)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" y="2592000"/>
            <a:ext cx="72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C2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0000" y="2592000"/>
            <a:ext cx="54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4-tier 다중 평가 프레임워크 구축
(Rules + NLI + Cross-Judge G-Eval + Persona)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0" y="2592000"/>
            <a:ext cx="522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NLI 0.625, G-Eval +0.67 Completeness
Persona 3 차원 × 5 점 척도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3384000"/>
            <a:ext cx="720000" cy="79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C3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0000" y="3384000"/>
            <a:ext cx="5400000" cy="79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4-mode 비교로 차별성 입증
(환각 차단 ≠ fact-grounded 정확성)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3384000"/>
            <a:ext cx="5220000" cy="79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환각 0 % (모든 mode) vs NLI 단조증가
Value Match 0.59 → 0.90 (no_shap → fusion)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4176000"/>
            <a:ext cx="72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C4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" y="4176000"/>
            <a:ext cx="540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두 데이터셋 일반화 검증
(Home Credit + UCI German Credit)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80000" y="4176000"/>
            <a:ext cx="5220000" cy="79200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양 데이터셋 SHAP × Attn ρ 거의 동일
NLI 4-mode 단조증가 패턴 일관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000" y="4968000"/>
            <a:ext cx="720000" cy="79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C5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0000" y="4968000"/>
            <a:ext cx="5400000" cy="79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Reweighing 무손실 공정성 보정
(4 / 4 조합 모두 4/5 규칙 통과)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4968000"/>
            <a:ext cx="5220000" cy="792000"/>
          </a:xfrm>
          <a:prstGeom prst="rect">
            <a:avLst/>
          </a:prstGeom>
          <a:solidFill>
            <a:srgbClr val="F8F9F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36000" tIns="28800" bIns="28800"/>
          <a:lstStyle/>
          <a:p>
            <a:pPr algn="ctr"/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DI 0.62 → 0.90, 0.56 → 0.90
AUROC 손실 ≤ 0.004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22. Honest Reporting — 연구의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학술 논문의 정직성 표준에 따라 명시적 한계 보고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8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44E52"/>
                </a:solidFill>
                <a:ea typeface="Malgun Gothic"/>
                <a:latin typeface="Malgun Gothic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1188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표본 크기 30 인스턴스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1512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4-mode × 2 LLM × 30 = 240 explanations — 통계적 의의는 trends 수준
→ Future work: 표본 100+ 확장, 정식 통계 검정 (Wilcoxon paired)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26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44E52"/>
                </a:solidFill>
                <a:ea typeface="Malgun Gothic"/>
                <a:latin typeface="Malgun Gothic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000" y="2268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정식 IRB 인간평가 부재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2592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현 평가는 LLM-proxy persona (Claude judge) — 실제 사용자 데이터 X
→ Future work: IRB 간소판 + 다수 평가자 + Cohen's 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334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44E52"/>
                </a:solidFill>
                <a:ea typeface="Malgun Gothic"/>
                <a:latin typeface="Malgun Gothic"/>
              </a:rPr>
              <a:t>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3348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Fusion의 Customer Clarity 약점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0000" y="3672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Customer persona 기준 fusion 2.67 vs generic_rag 4.93 (큰 격차)
→ Future work: Customer-friendly 표현 정제, hybrid fusion 모드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4428000"/>
            <a:ext cx="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44E52"/>
                </a:solidFill>
                <a:ea typeface="Malgun Gothic"/>
                <a:latin typeface="Malgun Gothic"/>
              </a:rPr>
              <a:t>L4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0000" y="4428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3A68"/>
                </a:solidFill>
                <a:ea typeface="Malgun Gothic"/>
                <a:latin typeface="Malgun Gothic"/>
              </a:rPr>
              <a:t>Hard Constraint 의존성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000" y="4752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ea typeface="Malgun Gothic"/>
                <a:latin typeface="Malgun Gothic"/>
              </a:rPr>
              <a:t>환각 차단은 hard constraints에 의존 — 제거 시 baseline no_shap 45.5 % 환각 확인
→ Constraint 강도와 일반화 가능성 추가 검증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23. 응용 시나리오별 Mode 선택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본 연구가 제시하는 실무 적용 권고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0000" y="1260000"/>
            <a:ext cx="5580000" cy="2160000"/>
          </a:xfrm>
          <a:prstGeom prst="roundRect">
            <a:avLst/>
          </a:prstGeom>
          <a:solidFill>
            <a:srgbClr val="55A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4000" tIns="108000"/>
          <a:lstStyle/>
          <a:p>
            <a:pPr algn="ctr"/>
            <a:r>
              <a:rPr sz="1500" b="1">
                <a:solidFill>
                  <a:srgbClr val="FFFFFF"/>
                </a:solidFill>
                <a:ea typeface="Malgun Gothic"/>
                <a:latin typeface="Malgun Gothic"/>
              </a:rPr>
              <a:t>Audit / Regulation</a:t>
            </a:r>
          </a:p>
          <a:p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기준: 사실성 우선, 추적 가능성 필수</a:t>
            </a:r>
          </a:p>
          <a:p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
★ fusion 권장</a:t>
            </a:r>
          </a:p>
          <a:p>
            <a:r>
              <a:rPr sz="1000" b="0">
                <a:solidFill>
                  <a:srgbClr val="FFFFFF"/>
                </a:solidFill>
                <a:ea typeface="Malgun Gothic"/>
                <a:latin typeface="Malgun Gothic"/>
              </a:rPr>
              <a:t>
Agreement 라벨 + Value Match 0.90
→ 감사·규제 대응 적합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0000" y="1260000"/>
            <a:ext cx="5580000" cy="2160000"/>
          </a:xfrm>
          <a:prstGeom prst="round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4000" tIns="108000"/>
          <a:lstStyle/>
          <a:p>
            <a:pPr algn="ctr"/>
            <a:r>
              <a:rPr sz="1500" b="1">
                <a:solidFill>
                  <a:srgbClr val="FFFFFF"/>
                </a:solidFill>
                <a:ea typeface="Malgun Gothic"/>
                <a:latin typeface="Malgun Gothic"/>
              </a:rPr>
              <a:t>Customer-facing</a:t>
            </a:r>
          </a:p>
          <a:p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기준: 이해 용이성·친근함 우선</a:t>
            </a:r>
          </a:p>
          <a:p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
★ generic_rag 권장</a:t>
            </a:r>
          </a:p>
          <a:p>
            <a:r>
              <a:rPr sz="1000" b="0">
                <a:solidFill>
                  <a:srgbClr val="FFFFFF"/>
                </a:solidFill>
                <a:ea typeface="Malgun Gothic"/>
                <a:latin typeface="Malgun Gothic"/>
              </a:rPr>
              <a:t>
Customer clarity 4.93
→ 일반 차주 대상 안내·고객센터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3600000"/>
            <a:ext cx="5580000" cy="2160000"/>
          </a:xfrm>
          <a:prstGeom prst="roundRect">
            <a:avLst/>
          </a:prstGeom>
          <a:solidFill>
            <a:srgbClr val="DD8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4000" tIns="108000"/>
          <a:lstStyle/>
          <a:p>
            <a:pPr algn="ctr"/>
            <a:r>
              <a:rPr sz="1500" b="1">
                <a:solidFill>
                  <a:srgbClr val="FFFFFF"/>
                </a:solidFill>
                <a:ea typeface="Malgun Gothic"/>
                <a:latin typeface="Malgun Gothic"/>
              </a:rPr>
              <a:t>복잡 도메인 (Home Credit급)</a:t>
            </a:r>
          </a:p>
          <a:p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기준: 고차원·다변수·다양 관계</a:t>
            </a:r>
          </a:p>
          <a:p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
★ fusion 권장</a:t>
            </a:r>
          </a:p>
          <a:p>
            <a:r>
              <a:rPr sz="1000" b="0">
                <a:solidFill>
                  <a:srgbClr val="FFFFFF"/>
                </a:solidFill>
                <a:ea typeface="Malgun Gothic"/>
                <a:latin typeface="Malgun Gothic"/>
              </a:rPr>
              <a:t>
G-Eval Completeness 1위
→ 정보량이 많을수록 fusion 유리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0000" y="3600000"/>
            <a:ext cx="5580000" cy="2160000"/>
          </a:xfrm>
          <a:prstGeom prst="roundRect">
            <a:avLst/>
          </a:prstGeom>
          <a:solidFill>
            <a:srgbClr val="8C6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4000" tIns="108000"/>
          <a:lstStyle/>
          <a:p>
            <a:pPr algn="ctr"/>
            <a:r>
              <a:rPr sz="1500" b="1">
                <a:solidFill>
                  <a:srgbClr val="FFFFFF"/>
                </a:solidFill>
                <a:ea typeface="Malgun Gothic"/>
                <a:latin typeface="Malgun Gothic"/>
              </a:rPr>
              <a:t>단순 도메인 (German Credit급)</a:t>
            </a:r>
          </a:p>
          <a:p>
            <a:r>
              <a:rPr sz="1100" b="0">
                <a:solidFill>
                  <a:srgbClr val="FFFFFF"/>
                </a:solidFill>
                <a:ea typeface="Malgun Gothic"/>
                <a:latin typeface="Malgun Gothic"/>
              </a:rPr>
              <a:t>기준: 저차원·소표본</a:t>
            </a:r>
          </a:p>
          <a:p>
            <a:r>
              <a:rPr sz="1400" b="1">
                <a:solidFill>
                  <a:srgbClr val="FFFFFF"/>
                </a:solidFill>
                <a:ea typeface="Malgun Gothic"/>
                <a:latin typeface="Malgun Gothic"/>
              </a:rPr>
              <a:t>
★ generic_rag 권장</a:t>
            </a:r>
          </a:p>
          <a:p>
            <a:r>
              <a:rPr sz="1000" b="0">
                <a:solidFill>
                  <a:srgbClr val="FFFFFF"/>
                </a:solidFill>
                <a:ea typeface="Malgun Gothic"/>
                <a:latin typeface="Malgun Gothic"/>
              </a:rPr>
              <a:t>
G-Eval Completeness 1위
→ 도메인 지식 chunks가 보완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720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4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68"/>
                </a:solidFill>
                <a:ea typeface="Malgun Gothic"/>
                <a:latin typeface="Malgun Gothic"/>
              </a:rPr>
              <a:t>24. 향후 연구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3999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  <a:ea typeface="Malgun Gothic"/>
                <a:latin typeface="Malgun Gothic"/>
              </a:rPr>
              <a:t>본 연구를 확장할 수 있는 4 가지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340000" cy="18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1188000"/>
            <a:ext cx="1116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4E52"/>
                </a:solidFill>
                <a:ea typeface="Malgun Gothic"/>
                <a:latin typeface="Malgun Gothic"/>
              </a:rPr>
              <a:t>•  정식 IRB 인간평가 (L2 한계 해소)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IRB 간소판 + 5점 척도 + 다수 평가자(N=20~30)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Cohen's κ 평가자 간 신뢰도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사실성 vs 친근성 trade-off의 현실 검증 — 약점 #2 완전 해소</a:t>
            </a:r>
          </a:p>
          <a:p>
            <a:pPr algn="l"/>
            <a:r>
              <a:rPr sz="1200" b="1">
                <a:solidFill>
                  <a:srgbClr val="1F3A68"/>
                </a:solidFill>
                <a:ea typeface="Malgun Gothic"/>
                <a:latin typeface="Malgun Gothic"/>
              </a:rPr>
              <a:t>•  추가 데이터셋 — 도메인 복잡도 stratification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Australian Credit (UCI, 690×14, 복잡도 중간)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Lending Club (Kaggle, ~1.3M×150)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도메인 복잡도 × Mode 우월성 정량 매핑</a:t>
            </a:r>
          </a:p>
          <a:p>
            <a:pPr algn="l"/>
            <a:r>
              <a:rPr sz="1200" b="1">
                <a:solidFill>
                  <a:srgbClr val="55A868"/>
                </a:solidFill>
                <a:ea typeface="Malgun Gothic"/>
                <a:latin typeface="Malgun Gothic"/>
              </a:rPr>
              <a:t>•  3-way Ablation — Attention-only 단독 검증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현재 비교: no_shap / generic_rag / shaponly / fusion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추가 비교: attention_only → fusion 우월성이 attention 기여인지 isolate</a:t>
            </a:r>
          </a:p>
          <a:p>
            <a:pPr algn="l"/>
            <a:r>
              <a:rPr sz="1200" b="1">
                <a:solidFill>
                  <a:srgbClr val="8C6BB1"/>
                </a:solidFill>
                <a:ea typeface="Malgun Gothic"/>
                <a:latin typeface="Malgun Gothic"/>
              </a:rPr>
              <a:t>•  Customer-friendly Fusion 정제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Step 5-E 시도(revert): 친근함 ↑ 사실성 ↓ 정량 입증됨</a:t>
            </a:r>
          </a:p>
          <a:p>
            <a:pPr lvl="1" algn="l"/>
            <a:r>
              <a:rPr sz="1000" b="0">
                <a:solidFill>
                  <a:srgbClr val="555555"/>
                </a:solidFill>
                <a:ea typeface="Malgun Gothic"/>
                <a:latin typeface="Malgun Gothic"/>
              </a:rPr>
              <a:t>    –  Future: Hybrid 표현 — agreement 라벨 자연어화, 기술 용어 직관 변환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34000"/>
            <a:ext cx="79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TabNet × SHAP × LLM XAI-RAG  |  A70067 오현택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11695" y="6534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ea typeface="Malgun Gothic"/>
                <a:latin typeface="Malgun Gothic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0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3A68"/>
                </a:solidFill>
                <a:ea typeface="Malgun Gothic"/>
                <a:latin typeface="Malgun Gothic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880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44E52"/>
                </a:solidFill>
                <a:ea typeface="Malgun Gothic"/>
                <a:latin typeface="Malgun Gothic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450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ea typeface="Malgun Gothic"/>
                <a:latin typeface="Malgun Gothic"/>
              </a:rPr>
              <a:t>오픈소스 코드 저장소
https://github.com/Tim-Green0/tabnet-xai-rag-credit
A70067 오현택  |  지도교수 박운상
서강대학교 AI · SW대학원 데이터사이언스 · 인공지능 전공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